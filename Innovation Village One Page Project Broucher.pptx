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0693400" cy="7556500"/>
  <p:notesSz cx="6858000" cy="9144000"/>
  <p:embeddedFontLst>
    <p:embeddedFont>
      <p:font typeface="Inter" panose="020B0604020202020204" charset="0"/>
      <p:regular r:id="rId4"/>
    </p:embeddedFont>
    <p:embeddedFont>
      <p:font typeface="Inter Bold" panose="020B0604020202020204" charset="0"/>
      <p:regular r:id="rId5"/>
    </p:embeddedFont>
    <p:embeddedFont>
      <p:font typeface="Lora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8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107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15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05069" y="91326"/>
            <a:ext cx="3349925" cy="5395965"/>
            <a:chOff x="0" y="0"/>
            <a:chExt cx="758223" cy="12213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8223" cy="1221325"/>
            </a:xfrm>
            <a:custGeom>
              <a:avLst/>
              <a:gdLst/>
              <a:ahLst/>
              <a:cxnLst/>
              <a:rect l="l" t="t" r="r" b="b"/>
              <a:pathLst>
                <a:path w="758223" h="1221325">
                  <a:moveTo>
                    <a:pt x="0" y="0"/>
                  </a:moveTo>
                  <a:lnTo>
                    <a:pt x="758223" y="0"/>
                  </a:lnTo>
                  <a:lnTo>
                    <a:pt x="758223" y="1221325"/>
                  </a:lnTo>
                  <a:lnTo>
                    <a:pt x="0" y="1221325"/>
                  </a:lnTo>
                  <a:close/>
                </a:path>
              </a:pathLst>
            </a:custGeom>
            <a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854" y="4957867"/>
            <a:ext cx="4981393" cy="2495027"/>
            <a:chOff x="0" y="0"/>
            <a:chExt cx="1127491" cy="5647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7491" cy="564726"/>
            </a:xfrm>
            <a:custGeom>
              <a:avLst/>
              <a:gdLst/>
              <a:ahLst/>
              <a:cxnLst/>
              <a:rect l="l" t="t" r="r" b="b"/>
              <a:pathLst>
                <a:path w="1127491" h="564726">
                  <a:moveTo>
                    <a:pt x="0" y="0"/>
                  </a:moveTo>
                  <a:lnTo>
                    <a:pt x="1127491" y="0"/>
                  </a:lnTo>
                  <a:lnTo>
                    <a:pt x="1127491" y="564726"/>
                  </a:lnTo>
                  <a:lnTo>
                    <a:pt x="0" y="564726"/>
                  </a:lnTo>
                  <a:close/>
                </a:path>
              </a:pathLst>
            </a:cu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05069" y="393766"/>
            <a:ext cx="3349925" cy="663937"/>
            <a:chOff x="0" y="0"/>
            <a:chExt cx="1200537" cy="2379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0537" cy="237940"/>
            </a:xfrm>
            <a:custGeom>
              <a:avLst/>
              <a:gdLst/>
              <a:ahLst/>
              <a:cxnLst/>
              <a:rect l="l" t="t" r="r" b="b"/>
              <a:pathLst>
                <a:path w="1200537" h="237940">
                  <a:moveTo>
                    <a:pt x="0" y="0"/>
                  </a:moveTo>
                  <a:lnTo>
                    <a:pt x="1200537" y="0"/>
                  </a:lnTo>
                  <a:lnTo>
                    <a:pt x="1200537" y="237940"/>
                  </a:lnTo>
                  <a:lnTo>
                    <a:pt x="0" y="23794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200537" cy="247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45833" y="3980029"/>
            <a:ext cx="5571805" cy="2785262"/>
            <a:chOff x="0" y="0"/>
            <a:chExt cx="1996809" cy="9981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6809" cy="998175"/>
            </a:xfrm>
            <a:custGeom>
              <a:avLst/>
              <a:gdLst/>
              <a:ahLst/>
              <a:cxnLst/>
              <a:rect l="l" t="t" r="r" b="b"/>
              <a:pathLst>
                <a:path w="1996809" h="998175">
                  <a:moveTo>
                    <a:pt x="0" y="0"/>
                  </a:moveTo>
                  <a:lnTo>
                    <a:pt x="1996809" y="0"/>
                  </a:lnTo>
                  <a:lnTo>
                    <a:pt x="1996809" y="998175"/>
                  </a:lnTo>
                  <a:lnTo>
                    <a:pt x="0" y="998175"/>
                  </a:lnTo>
                  <a:close/>
                </a:path>
              </a:pathLst>
            </a:custGeom>
            <a:solidFill>
              <a:srgbClr val="4936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996809" cy="100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90493" y="4653067"/>
            <a:ext cx="2284893" cy="2284893"/>
          </a:xfrm>
          <a:custGeom>
            <a:avLst/>
            <a:gdLst/>
            <a:ahLst/>
            <a:cxnLst/>
            <a:rect l="l" t="t" r="r" b="b"/>
            <a:pathLst>
              <a:path w="2284893" h="2284893">
                <a:moveTo>
                  <a:pt x="0" y="0"/>
                </a:moveTo>
                <a:lnTo>
                  <a:pt x="2284893" y="0"/>
                </a:lnTo>
                <a:lnTo>
                  <a:pt x="2284893" y="2284893"/>
                </a:lnTo>
                <a:lnTo>
                  <a:pt x="0" y="2284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2632766">
            <a:off x="-280630" y="5813409"/>
            <a:ext cx="1146160" cy="2491652"/>
          </a:xfrm>
          <a:custGeom>
            <a:avLst/>
            <a:gdLst/>
            <a:ahLst/>
            <a:cxnLst/>
            <a:rect l="l" t="t" r="r" b="b"/>
            <a:pathLst>
              <a:path w="1146160" h="2491652">
                <a:moveTo>
                  <a:pt x="0" y="0"/>
                </a:moveTo>
                <a:lnTo>
                  <a:pt x="1146160" y="0"/>
                </a:lnTo>
                <a:lnTo>
                  <a:pt x="1146160" y="2491652"/>
                </a:lnTo>
                <a:lnTo>
                  <a:pt x="0" y="2491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-3739034">
            <a:off x="9067234" y="6484576"/>
            <a:ext cx="2771229" cy="985584"/>
          </a:xfrm>
          <a:custGeom>
            <a:avLst/>
            <a:gdLst/>
            <a:ahLst/>
            <a:cxnLst/>
            <a:rect l="l" t="t" r="r" b="b"/>
            <a:pathLst>
              <a:path w="2771229" h="985584">
                <a:moveTo>
                  <a:pt x="0" y="0"/>
                </a:moveTo>
                <a:lnTo>
                  <a:pt x="2771228" y="0"/>
                </a:lnTo>
                <a:lnTo>
                  <a:pt x="2771228" y="985583"/>
                </a:lnTo>
                <a:lnTo>
                  <a:pt x="0" y="985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496990" y="367619"/>
            <a:ext cx="2769218" cy="58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2300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What?</a:t>
            </a:r>
          </a:p>
          <a:p>
            <a:pPr algn="ctr">
              <a:lnSpc>
                <a:spcPts val="2200"/>
              </a:lnSpc>
            </a:pPr>
            <a:r>
              <a:rPr lang="en-US" sz="2000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Brief Description</a:t>
            </a:r>
          </a:p>
        </p:txBody>
      </p:sp>
      <p:sp>
        <p:nvSpPr>
          <p:cNvPr id="17" name="Freeform 17"/>
          <p:cNvSpPr/>
          <p:nvPr/>
        </p:nvSpPr>
        <p:spPr>
          <a:xfrm rot="1455866">
            <a:off x="-586099" y="-695394"/>
            <a:ext cx="1149131" cy="1950686"/>
          </a:xfrm>
          <a:custGeom>
            <a:avLst/>
            <a:gdLst/>
            <a:ahLst/>
            <a:cxnLst/>
            <a:rect l="l" t="t" r="r" b="b"/>
            <a:pathLst>
              <a:path w="1149131" h="1950686">
                <a:moveTo>
                  <a:pt x="0" y="0"/>
                </a:moveTo>
                <a:lnTo>
                  <a:pt x="1149131" y="0"/>
                </a:lnTo>
                <a:lnTo>
                  <a:pt x="1149131" y="1950686"/>
                </a:lnTo>
                <a:lnTo>
                  <a:pt x="0" y="19506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9263216" y="502679"/>
            <a:ext cx="1189632" cy="446112"/>
          </a:xfrm>
          <a:custGeom>
            <a:avLst/>
            <a:gdLst/>
            <a:ahLst/>
            <a:cxnLst/>
            <a:rect l="l" t="t" r="r" b="b"/>
            <a:pathLst>
              <a:path w="1189632" h="446112">
                <a:moveTo>
                  <a:pt x="0" y="0"/>
                </a:moveTo>
                <a:lnTo>
                  <a:pt x="1189632" y="0"/>
                </a:lnTo>
                <a:lnTo>
                  <a:pt x="1189632" y="446112"/>
                </a:lnTo>
                <a:lnTo>
                  <a:pt x="0" y="4461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7281370" y="502679"/>
            <a:ext cx="1757109" cy="446112"/>
          </a:xfrm>
          <a:custGeom>
            <a:avLst/>
            <a:gdLst/>
            <a:ahLst/>
            <a:cxnLst/>
            <a:rect l="l" t="t" r="r" b="b"/>
            <a:pathLst>
              <a:path w="1757109" h="446112">
                <a:moveTo>
                  <a:pt x="0" y="0"/>
                </a:moveTo>
                <a:lnTo>
                  <a:pt x="1757109" y="0"/>
                </a:lnTo>
                <a:lnTo>
                  <a:pt x="1757109" y="446112"/>
                </a:lnTo>
                <a:lnTo>
                  <a:pt x="0" y="4461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7462509" y="4308731"/>
            <a:ext cx="2473491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IN" sz="2800" b="1" dirty="0">
                <a:solidFill>
                  <a:srgbClr val="FFFFFF"/>
                </a:solidFill>
                <a:latin typeface="Lora Bold"/>
              </a:rPr>
              <a:t>APEX Intelligence</a:t>
            </a:r>
            <a:endParaRPr lang="en-US" sz="2800" b="1" dirty="0">
              <a:solidFill>
                <a:srgbClr val="FFFFFF"/>
              </a:solidFill>
              <a:latin typeface="Lora Bold"/>
              <a:sym typeface="Lora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462509" y="5282034"/>
            <a:ext cx="2473491" cy="694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 A Hybrid ML &amp; Simulation System for Predictive Motorsport Strategy.</a:t>
            </a:r>
            <a:endParaRPr lang="en-US" sz="1200" dirty="0">
              <a:solidFill>
                <a:srgbClr val="FFFFFF">
                  <a:alpha val="80000"/>
                </a:srgbClr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573247" y="6936375"/>
            <a:ext cx="245364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9"/>
              </a:lnSpc>
            </a:pPr>
            <a:r>
              <a:rPr lang="en-US" sz="1499" b="1">
                <a:solidFill>
                  <a:srgbClr val="000000">
                    <a:alpha val="80000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Stall No. Here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77166" y="348569"/>
            <a:ext cx="273766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Why?</a:t>
            </a:r>
          </a:p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Motivation &amp; Purpose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29500" y="5188690"/>
            <a:ext cx="1772074" cy="160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2" lvl="1" indent="-151131">
              <a:lnSpc>
                <a:spcPts val="1820"/>
              </a:lnSpc>
              <a:buFont typeface="Arial"/>
              <a:buChar char="•"/>
            </a:pPr>
            <a:r>
              <a:rPr lang="en-IN" sz="1400" dirty="0">
                <a:solidFill>
                  <a:srgbClr val="FFFFFF"/>
                </a:solidFill>
                <a:latin typeface="Inter"/>
                <a:ea typeface="Inter"/>
              </a:rPr>
              <a:t>Hybrid Architecture</a:t>
            </a:r>
            <a:endParaRPr lang="en-US" sz="1400" dirty="0">
              <a:solidFill>
                <a:srgbClr val="FFFFFF"/>
              </a:solidFill>
              <a:latin typeface="Inter"/>
              <a:ea typeface="Inter"/>
              <a:sym typeface="Inter"/>
            </a:endParaRPr>
          </a:p>
          <a:p>
            <a:pPr marL="302262" lvl="1" indent="-151131">
              <a:lnSpc>
                <a:spcPts val="1820"/>
              </a:lnSpc>
              <a:buFont typeface="Arial"/>
              <a:buChar char="•"/>
            </a:pPr>
            <a:r>
              <a:rPr lang="en-IN" sz="1400" dirty="0">
                <a:solidFill>
                  <a:srgbClr val="FFFFFF"/>
                </a:solidFill>
                <a:latin typeface="Inter"/>
                <a:ea typeface="Inter"/>
              </a:rPr>
              <a:t>Predictive AI</a:t>
            </a:r>
            <a:endParaRPr lang="en-US" sz="1400" dirty="0">
              <a:solidFill>
                <a:srgbClr val="FFFFFF"/>
              </a:solidFill>
              <a:latin typeface="Inter"/>
              <a:ea typeface="Inter"/>
              <a:sym typeface="Inter"/>
            </a:endParaRPr>
          </a:p>
          <a:p>
            <a:pPr marL="302262" lvl="1" indent="-151131" algn="l">
              <a:lnSpc>
                <a:spcPts val="1820"/>
              </a:lnSpc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Cinematic UX</a:t>
            </a:r>
          </a:p>
          <a:p>
            <a:pPr marL="302262" lvl="1" indent="-151131" algn="l">
              <a:lnSpc>
                <a:spcPts val="1820"/>
              </a:lnSpc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Performance Analytics</a:t>
            </a:r>
          </a:p>
          <a:p>
            <a:pPr marL="302262" lvl="1" indent="-151131" algn="l">
              <a:lnSpc>
                <a:spcPts val="1820"/>
              </a:lnSpc>
              <a:buFont typeface="Arial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Race Simulation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6990" y="4264351"/>
            <a:ext cx="2689647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Project in the Depth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10423" y="1170143"/>
            <a:ext cx="2871155" cy="305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5203" lvl="1">
              <a:lnSpc>
                <a:spcPts val="1989"/>
              </a:lnSpc>
            </a:pPr>
            <a:r>
              <a:rPr lang="en-IN" sz="1530" dirty="0">
                <a:solidFill>
                  <a:srgbClr val="493628"/>
                </a:solidFill>
                <a:latin typeface="Inter"/>
                <a:ea typeface="Inter"/>
              </a:rPr>
              <a:t>Bridging the Analytics Gap</a:t>
            </a:r>
          </a:p>
          <a:p>
            <a:pPr marL="450953" lvl="1" indent="-285750">
              <a:lnSpc>
                <a:spcPts val="1989"/>
              </a:lnSpc>
              <a:buFont typeface="Arial" panose="020B0604020202020204" pitchFamily="34" charset="0"/>
              <a:buChar char="•"/>
            </a:pPr>
            <a:r>
              <a:rPr lang="en-GB" sz="1530" dirty="0">
                <a:solidFill>
                  <a:srgbClr val="493628"/>
                </a:solidFill>
                <a:latin typeface="Inter"/>
                <a:ea typeface="Inter"/>
              </a:rPr>
              <a:t>The Problem: The complexity of F1 data makes it difficult to visualise how strategy calls impact the final race result.</a:t>
            </a:r>
          </a:p>
          <a:p>
            <a:pPr marL="450953" lvl="1" indent="-285750">
              <a:lnSpc>
                <a:spcPts val="1989"/>
              </a:lnSpc>
              <a:buFont typeface="Arial" panose="020B0604020202020204" pitchFamily="34" charset="0"/>
              <a:buChar char="•"/>
            </a:pPr>
            <a:r>
              <a:rPr lang="en-GB" sz="1530" dirty="0">
                <a:solidFill>
                  <a:srgbClr val="493628"/>
                </a:solidFill>
                <a:latin typeface="Inter"/>
                <a:ea typeface="Inter"/>
              </a:rPr>
              <a:t>Solution: Advanced modelling that makes technical data accessible and actionable.</a:t>
            </a:r>
            <a:br>
              <a:rPr lang="en-IN" sz="1600" dirty="0"/>
            </a:br>
            <a:endParaRPr lang="en-US" sz="1530" dirty="0">
              <a:solidFill>
                <a:srgbClr val="4936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15482" y="1161396"/>
            <a:ext cx="2871155" cy="312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89"/>
              </a:lnSpc>
            </a:pPr>
            <a:r>
              <a:rPr lang="en-GB" sz="1530" dirty="0">
                <a:solidFill>
                  <a:srgbClr val="493628"/>
                </a:solidFill>
                <a:latin typeface="Inter"/>
                <a:ea typeface="Inter"/>
              </a:rPr>
              <a:t>A high-fidelity system that predicts F1 race outcomes using advanced analytics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30" dirty="0">
                <a:solidFill>
                  <a:srgbClr val="493628"/>
                </a:solidFill>
                <a:latin typeface="Inter"/>
                <a:ea typeface="Inter"/>
              </a:rPr>
              <a:t>Core Function: Transforms historical data into future simulations for upcoming Grand Prix races.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30" dirty="0">
                <a:solidFill>
                  <a:srgbClr val="493628"/>
                </a:solidFill>
                <a:latin typeface="Inter"/>
                <a:ea typeface="Inter"/>
              </a:rPr>
              <a:t>The System: Hybrid architecture combining Machine Learning (Pace) with Monte Carlo Simulation (Strategy).</a:t>
            </a:r>
          </a:p>
          <a:p>
            <a:pPr marL="285750" indent="-285750">
              <a:lnSpc>
                <a:spcPts val="1989"/>
              </a:lnSpc>
              <a:buFont typeface="Arial" panose="020B0604020202020204" pitchFamily="34" charset="0"/>
              <a:buChar char="•"/>
            </a:pPr>
            <a:endParaRPr lang="en-US" sz="1530" dirty="0">
              <a:solidFill>
                <a:srgbClr val="49362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829500" y="4308731"/>
            <a:ext cx="2136729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800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Key Highlights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FD85024-DE7D-74F7-8AA2-9EDC8D3376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654" y="4841558"/>
            <a:ext cx="1278768" cy="1278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1953" y="2389660"/>
            <a:ext cx="627977" cy="62797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r>
                <a:rPr lang="en-US" sz="1399" b="1" dirty="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1953" y="3179562"/>
            <a:ext cx="627977" cy="6279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9"/>
                </a:lnSpc>
              </a:pPr>
              <a:r>
                <a:rPr lang="en-US" sz="1299" b="1" dirty="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1953" y="3978989"/>
            <a:ext cx="627977" cy="6279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49"/>
                </a:lnSpc>
              </a:pPr>
              <a:r>
                <a:rPr lang="en-US" sz="12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664341" y="2041048"/>
            <a:ext cx="7361568" cy="3500181"/>
            <a:chOff x="0" y="0"/>
            <a:chExt cx="2108268" cy="10024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8268" cy="1002412"/>
            </a:xfrm>
            <a:custGeom>
              <a:avLst/>
              <a:gdLst/>
              <a:ahLst/>
              <a:cxnLst/>
              <a:rect l="l" t="t" r="r" b="b"/>
              <a:pathLst>
                <a:path w="2108268" h="1002412">
                  <a:moveTo>
                    <a:pt x="0" y="0"/>
                  </a:moveTo>
                  <a:lnTo>
                    <a:pt x="2108268" y="0"/>
                  </a:lnTo>
                  <a:lnTo>
                    <a:pt x="2108268" y="1002412"/>
                  </a:lnTo>
                  <a:lnTo>
                    <a:pt x="0" y="1002412"/>
                  </a:lnTo>
                  <a:close/>
                </a:path>
              </a:pathLst>
            </a:custGeom>
            <a:solidFill>
              <a:srgbClr val="4936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108268" cy="1011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4957867"/>
            <a:ext cx="3563999" cy="2495027"/>
            <a:chOff x="0" y="0"/>
            <a:chExt cx="806677" cy="5647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6677" cy="564726"/>
            </a:xfrm>
            <a:custGeom>
              <a:avLst/>
              <a:gdLst/>
              <a:ahLst/>
              <a:cxnLst/>
              <a:rect l="l" t="t" r="r" b="b"/>
              <a:pathLst>
                <a:path w="806677" h="564726">
                  <a:moveTo>
                    <a:pt x="0" y="0"/>
                  </a:moveTo>
                  <a:lnTo>
                    <a:pt x="806677" y="0"/>
                  </a:lnTo>
                  <a:lnTo>
                    <a:pt x="806677" y="564726"/>
                  </a:lnTo>
                  <a:lnTo>
                    <a:pt x="0" y="564726"/>
                  </a:lnTo>
                  <a:close/>
                </a:path>
              </a:pathLst>
            </a:custGeom>
            <a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527002" y="1559277"/>
            <a:ext cx="321554" cy="310198"/>
            <a:chOff x="0" y="0"/>
            <a:chExt cx="115238" cy="1111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5238" cy="111168"/>
            </a:xfrm>
            <a:custGeom>
              <a:avLst/>
              <a:gdLst/>
              <a:ahLst/>
              <a:cxnLst/>
              <a:rect l="l" t="t" r="r" b="b"/>
              <a:pathLst>
                <a:path w="115238" h="111168">
                  <a:moveTo>
                    <a:pt x="0" y="0"/>
                  </a:moveTo>
                  <a:lnTo>
                    <a:pt x="115238" y="0"/>
                  </a:lnTo>
                  <a:lnTo>
                    <a:pt x="115238" y="111168"/>
                  </a:lnTo>
                  <a:lnTo>
                    <a:pt x="0" y="111168"/>
                  </a:ln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15238" cy="139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27002" y="2648566"/>
            <a:ext cx="321554" cy="310198"/>
            <a:chOff x="0" y="0"/>
            <a:chExt cx="115238" cy="1111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5238" cy="111168"/>
            </a:xfrm>
            <a:custGeom>
              <a:avLst/>
              <a:gdLst/>
              <a:ahLst/>
              <a:cxnLst/>
              <a:rect l="l" t="t" r="r" b="b"/>
              <a:pathLst>
                <a:path w="115238" h="111168">
                  <a:moveTo>
                    <a:pt x="0" y="0"/>
                  </a:moveTo>
                  <a:lnTo>
                    <a:pt x="115238" y="0"/>
                  </a:lnTo>
                  <a:lnTo>
                    <a:pt x="115238" y="111168"/>
                  </a:lnTo>
                  <a:lnTo>
                    <a:pt x="0" y="111168"/>
                  </a:ln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15238" cy="139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7002" y="3632860"/>
            <a:ext cx="321554" cy="310198"/>
            <a:chOff x="0" y="0"/>
            <a:chExt cx="115238" cy="1111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238" cy="111168"/>
            </a:xfrm>
            <a:custGeom>
              <a:avLst/>
              <a:gdLst/>
              <a:ahLst/>
              <a:cxnLst/>
              <a:rect l="l" t="t" r="r" b="b"/>
              <a:pathLst>
                <a:path w="115238" h="111168">
                  <a:moveTo>
                    <a:pt x="0" y="0"/>
                  </a:moveTo>
                  <a:lnTo>
                    <a:pt x="115238" y="0"/>
                  </a:lnTo>
                  <a:lnTo>
                    <a:pt x="115238" y="111168"/>
                  </a:lnTo>
                  <a:lnTo>
                    <a:pt x="0" y="111168"/>
                  </a:ln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15238" cy="139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7527002" y="5907590"/>
            <a:ext cx="173690" cy="176795"/>
          </a:xfrm>
          <a:custGeom>
            <a:avLst/>
            <a:gdLst/>
            <a:ahLst/>
            <a:cxnLst/>
            <a:rect l="l" t="t" r="r" b="b"/>
            <a:pathLst>
              <a:path w="173690" h="176795">
                <a:moveTo>
                  <a:pt x="0" y="0"/>
                </a:moveTo>
                <a:lnTo>
                  <a:pt x="173689" y="0"/>
                </a:lnTo>
                <a:lnTo>
                  <a:pt x="173689" y="176796"/>
                </a:lnTo>
                <a:lnTo>
                  <a:pt x="0" y="176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7527002" y="6250121"/>
            <a:ext cx="173690" cy="176795"/>
          </a:xfrm>
          <a:custGeom>
            <a:avLst/>
            <a:gdLst/>
            <a:ahLst/>
            <a:cxnLst/>
            <a:rect l="l" t="t" r="r" b="b"/>
            <a:pathLst>
              <a:path w="173690" h="176795">
                <a:moveTo>
                  <a:pt x="0" y="0"/>
                </a:moveTo>
                <a:lnTo>
                  <a:pt x="173689" y="0"/>
                </a:lnTo>
                <a:lnTo>
                  <a:pt x="173689" y="176795"/>
                </a:lnTo>
                <a:lnTo>
                  <a:pt x="0" y="176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7527002" y="6627205"/>
            <a:ext cx="173690" cy="176795"/>
          </a:xfrm>
          <a:custGeom>
            <a:avLst/>
            <a:gdLst/>
            <a:ahLst/>
            <a:cxnLst/>
            <a:rect l="l" t="t" r="r" b="b"/>
            <a:pathLst>
              <a:path w="173690" h="176795">
                <a:moveTo>
                  <a:pt x="0" y="0"/>
                </a:moveTo>
                <a:lnTo>
                  <a:pt x="173689" y="0"/>
                </a:lnTo>
                <a:lnTo>
                  <a:pt x="173689" y="176795"/>
                </a:lnTo>
                <a:lnTo>
                  <a:pt x="0" y="176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541953" y="571559"/>
            <a:ext cx="2549963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Problems Addressed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1180" y="2492829"/>
            <a:ext cx="1790736" cy="63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0"/>
              </a:lnSpc>
            </a:pPr>
            <a:r>
              <a:rPr lang="en-IN" sz="1300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Passive Viewership</a:t>
            </a:r>
            <a:r>
              <a:rPr lang="en-US" sz="1300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00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affected/benefited</a:t>
            </a:r>
          </a:p>
          <a:p>
            <a:pPr>
              <a:lnSpc>
                <a:spcPts val="1690"/>
              </a:lnSpc>
            </a:pPr>
            <a:endParaRPr lang="en-US" sz="1300" dirty="0">
              <a:solidFill>
                <a:srgbClr val="000000">
                  <a:alpha val="80000"/>
                </a:srgb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01180" y="3268430"/>
            <a:ext cx="1790736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0"/>
              </a:lnSpc>
            </a:pPr>
            <a:r>
              <a:rPr lang="en-IN" sz="1300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Complex, Fragmented Data</a:t>
            </a:r>
            <a:endParaRPr lang="en-US" sz="1300" dirty="0">
              <a:solidFill>
                <a:srgbClr val="000000">
                  <a:alpha val="80000"/>
                </a:srgbClr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01180" y="4082158"/>
            <a:ext cx="1790736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90"/>
              </a:lnSpc>
            </a:pPr>
            <a:r>
              <a:rPr lang="en-IN" sz="1300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Reactive Race Strategy</a:t>
            </a:r>
            <a:endParaRPr lang="en-US" sz="1300" dirty="0">
              <a:solidFill>
                <a:srgbClr val="000000">
                  <a:alpha val="80000"/>
                </a:srgbClr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885837" y="596470"/>
            <a:ext cx="2918576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Current Alternatives in the Market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85837" y="1371840"/>
            <a:ext cx="2251981" cy="22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9"/>
              </a:lnSpc>
            </a:pPr>
            <a:r>
              <a:rPr lang="en-US" sz="12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</a:t>
            </a:r>
            <a:r>
              <a:rPr lang="en-IN" sz="1299" b="1" dirty="0">
                <a:solidFill>
                  <a:srgbClr val="FFFFFF"/>
                </a:solidFill>
                <a:latin typeface="Inter Bold"/>
                <a:ea typeface="Inter Bold"/>
              </a:rPr>
              <a:t>F1TV (Official)</a:t>
            </a:r>
            <a:endParaRPr lang="en-US" sz="1299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094449" y="1425509"/>
            <a:ext cx="215179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GB" sz="1400" b="1" dirty="0">
                <a:solidFill>
                  <a:srgbClr val="000000"/>
                </a:solidFill>
                <a:latin typeface="Inter"/>
                <a:ea typeface="Inter"/>
              </a:rPr>
              <a:t>Forward-Looking Predictions</a:t>
            </a:r>
            <a:r>
              <a:rPr lang="en-GB" sz="1400" dirty="0">
                <a:solidFill>
                  <a:srgbClr val="000000"/>
                </a:solidFill>
                <a:latin typeface="Inter"/>
                <a:ea typeface="Inter"/>
              </a:rPr>
              <a:t>: Predict race outcomes instead of just analysing past results.</a:t>
            </a:r>
            <a:endParaRPr lang="en-US" sz="1400" dirty="0">
              <a:solidFill>
                <a:srgbClr val="000000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36" name="Freeform 36"/>
          <p:cNvSpPr/>
          <p:nvPr/>
        </p:nvSpPr>
        <p:spPr>
          <a:xfrm rot="-2632766" flipH="1" flipV="1">
            <a:off x="9981914" y="-939615"/>
            <a:ext cx="1146160" cy="2491652"/>
          </a:xfrm>
          <a:custGeom>
            <a:avLst/>
            <a:gdLst/>
            <a:ahLst/>
            <a:cxnLst/>
            <a:rect l="l" t="t" r="r" b="b"/>
            <a:pathLst>
              <a:path w="1146160" h="2491652">
                <a:moveTo>
                  <a:pt x="1146160" y="2491652"/>
                </a:moveTo>
                <a:lnTo>
                  <a:pt x="0" y="2491652"/>
                </a:lnTo>
                <a:lnTo>
                  <a:pt x="0" y="0"/>
                </a:lnTo>
                <a:lnTo>
                  <a:pt x="1146160" y="0"/>
                </a:lnTo>
                <a:lnTo>
                  <a:pt x="1146160" y="2491652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7527002" y="563055"/>
            <a:ext cx="2644257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What Makes It Different: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27002" y="5336990"/>
            <a:ext cx="2792432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Impact &amp; Future Scope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31755" y="5857691"/>
            <a:ext cx="2339503" cy="19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99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Live 3D Race Replay</a:t>
            </a:r>
          </a:p>
        </p:txBody>
      </p:sp>
      <p:sp>
        <p:nvSpPr>
          <p:cNvPr id="40" name="Freeform 40"/>
          <p:cNvSpPr/>
          <p:nvPr/>
        </p:nvSpPr>
        <p:spPr>
          <a:xfrm rot="-3739034">
            <a:off x="9067234" y="6484576"/>
            <a:ext cx="2771229" cy="985584"/>
          </a:xfrm>
          <a:custGeom>
            <a:avLst/>
            <a:gdLst/>
            <a:ahLst/>
            <a:cxnLst/>
            <a:rect l="l" t="t" r="r" b="b"/>
            <a:pathLst>
              <a:path w="2771229" h="985584">
                <a:moveTo>
                  <a:pt x="0" y="0"/>
                </a:moveTo>
                <a:lnTo>
                  <a:pt x="2771228" y="0"/>
                </a:lnTo>
                <a:lnTo>
                  <a:pt x="2771228" y="985583"/>
                </a:lnTo>
                <a:lnTo>
                  <a:pt x="0" y="985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7831755" y="6206121"/>
            <a:ext cx="2339503" cy="19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99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Active Fan Engagement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831755" y="6589105"/>
            <a:ext cx="2339503" cy="19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99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Trackside Mobile Ecosystem</a:t>
            </a:r>
          </a:p>
        </p:txBody>
      </p:sp>
      <p:sp>
        <p:nvSpPr>
          <p:cNvPr id="43" name="Freeform 43"/>
          <p:cNvSpPr/>
          <p:nvPr/>
        </p:nvSpPr>
        <p:spPr>
          <a:xfrm rot="1455866">
            <a:off x="-586099" y="-695394"/>
            <a:ext cx="1149131" cy="1950686"/>
          </a:xfrm>
          <a:custGeom>
            <a:avLst/>
            <a:gdLst/>
            <a:ahLst/>
            <a:cxnLst/>
            <a:rect l="l" t="t" r="r" b="b"/>
            <a:pathLst>
              <a:path w="1149131" h="1950686">
                <a:moveTo>
                  <a:pt x="0" y="0"/>
                </a:moveTo>
                <a:lnTo>
                  <a:pt x="1149131" y="0"/>
                </a:lnTo>
                <a:lnTo>
                  <a:pt x="1149131" y="1950686"/>
                </a:lnTo>
                <a:lnTo>
                  <a:pt x="0" y="19506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7527002" y="4485138"/>
            <a:ext cx="321554" cy="310198"/>
            <a:chOff x="0" y="0"/>
            <a:chExt cx="115238" cy="11116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5238" cy="111168"/>
            </a:xfrm>
            <a:custGeom>
              <a:avLst/>
              <a:gdLst/>
              <a:ahLst/>
              <a:cxnLst/>
              <a:rect l="l" t="t" r="r" b="b"/>
              <a:pathLst>
                <a:path w="115238" h="111168">
                  <a:moveTo>
                    <a:pt x="0" y="0"/>
                  </a:moveTo>
                  <a:lnTo>
                    <a:pt x="115238" y="0"/>
                  </a:lnTo>
                  <a:lnTo>
                    <a:pt x="115238" y="111168"/>
                  </a:lnTo>
                  <a:lnTo>
                    <a:pt x="0" y="111168"/>
                  </a:lnTo>
                  <a:close/>
                </a:path>
              </a:pathLst>
            </a:custGeom>
            <a:solidFill>
              <a:srgbClr val="A382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15238" cy="139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10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109401" y="2295215"/>
            <a:ext cx="2151798" cy="97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GB" sz="1400" b="1" dirty="0">
                <a:solidFill>
                  <a:srgbClr val="000000"/>
                </a:solidFill>
                <a:latin typeface="Inter"/>
                <a:ea typeface="Inter"/>
              </a:rPr>
              <a:t>Precision Performance Analytics</a:t>
            </a:r>
            <a:r>
              <a:rPr lang="en-GB" sz="1400" dirty="0">
                <a:solidFill>
                  <a:srgbClr val="000000"/>
                </a:solidFill>
                <a:latin typeface="Inter"/>
                <a:ea typeface="Inter"/>
              </a:rPr>
              <a:t>: Real-time analysis of tyre degradation and pace deltas.</a:t>
            </a:r>
            <a:endParaRPr lang="en-US" sz="1400" dirty="0">
              <a:solidFill>
                <a:srgbClr val="000000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109401" y="3415588"/>
            <a:ext cx="2151798" cy="78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GB" sz="1400" b="1" dirty="0">
                <a:solidFill>
                  <a:srgbClr val="000000"/>
                </a:solidFill>
                <a:latin typeface="Inter"/>
                <a:ea typeface="Inter"/>
              </a:rPr>
              <a:t>Hybrid Intelligence Engine</a:t>
            </a:r>
            <a:r>
              <a:rPr lang="en-GB" sz="1400" dirty="0">
                <a:solidFill>
                  <a:srgbClr val="000000"/>
                </a:solidFill>
                <a:latin typeface="Inter"/>
                <a:ea typeface="Inter"/>
              </a:rPr>
              <a:t>: Fuses Machine Learning with physics-based race rules.</a:t>
            </a:r>
            <a:endParaRPr lang="en-US" sz="1400" dirty="0">
              <a:solidFill>
                <a:srgbClr val="000000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094449" y="4305525"/>
            <a:ext cx="215179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GB" sz="1400" b="1" dirty="0">
                <a:solidFill>
                  <a:srgbClr val="000000"/>
                </a:solidFill>
                <a:latin typeface="Inter"/>
                <a:ea typeface="Inter"/>
              </a:rPr>
              <a:t>Cinematic Data UX</a:t>
            </a:r>
            <a:r>
              <a:rPr lang="en-GB" sz="1400" dirty="0">
                <a:solidFill>
                  <a:srgbClr val="000000"/>
                </a:solidFill>
                <a:latin typeface="Inter"/>
                <a:ea typeface="Inter"/>
              </a:rPr>
              <a:t>: Broadcast-quality visualisation, not dry spreadsheets.</a:t>
            </a:r>
            <a:endParaRPr lang="en-US" sz="1400" dirty="0">
              <a:solidFill>
                <a:srgbClr val="000000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51" name="Freeform 51"/>
          <p:cNvSpPr/>
          <p:nvPr/>
        </p:nvSpPr>
        <p:spPr>
          <a:xfrm>
            <a:off x="7539914" y="6977368"/>
            <a:ext cx="173690" cy="176795"/>
          </a:xfrm>
          <a:custGeom>
            <a:avLst/>
            <a:gdLst/>
            <a:ahLst/>
            <a:cxnLst/>
            <a:rect l="l" t="t" r="r" b="b"/>
            <a:pathLst>
              <a:path w="173690" h="176795">
                <a:moveTo>
                  <a:pt x="0" y="0"/>
                </a:moveTo>
                <a:lnTo>
                  <a:pt x="173690" y="0"/>
                </a:lnTo>
                <a:lnTo>
                  <a:pt x="173690" y="176795"/>
                </a:lnTo>
                <a:lnTo>
                  <a:pt x="0" y="176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2"/>
          <p:cNvSpPr txBox="1"/>
          <p:nvPr/>
        </p:nvSpPr>
        <p:spPr>
          <a:xfrm>
            <a:off x="7831755" y="6939268"/>
            <a:ext cx="2339503" cy="61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99" dirty="0">
                <a:solidFill>
                  <a:srgbClr val="000000">
                    <a:alpha val="80000"/>
                  </a:srgbClr>
                </a:solidFill>
                <a:latin typeface="Inter"/>
                <a:ea typeface="Inter"/>
              </a:rPr>
              <a:t>Monte Carlo Strategy Engine</a:t>
            </a:r>
          </a:p>
          <a:p>
            <a:br>
              <a:rPr lang="en-IN" sz="1400" dirty="0"/>
            </a:br>
            <a:endParaRPr lang="en-IN" sz="1299" dirty="0">
              <a:solidFill>
                <a:srgbClr val="000000">
                  <a:alpha val="80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756031" y="4917146"/>
            <a:ext cx="310793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 b="1" dirty="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How we are different from competition?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915457" y="1581696"/>
            <a:ext cx="2789086" cy="76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Focus: Live Video &amp; Replays</a:t>
            </a:r>
          </a:p>
          <a:p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Gap: Expensive ($130/yr), purely observational, no predictive tools.</a:t>
            </a:r>
          </a:p>
          <a:p>
            <a:pPr algn="l">
              <a:lnSpc>
                <a:spcPts val="1800"/>
              </a:lnSpc>
            </a:pPr>
            <a:endParaRPr lang="en-US" sz="1200" dirty="0">
              <a:solidFill>
                <a:srgbClr val="FFFFFF">
                  <a:alpha val="80000"/>
                </a:srgb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3885837" y="2349139"/>
            <a:ext cx="2251981" cy="22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9"/>
              </a:lnSpc>
            </a:pPr>
            <a:r>
              <a:rPr lang="en-US" sz="12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</a:t>
            </a:r>
            <a:r>
              <a:rPr lang="en-IN" sz="1299" b="1" dirty="0">
                <a:solidFill>
                  <a:srgbClr val="FFFFFF"/>
                </a:solidFill>
                <a:latin typeface="Inter Bold"/>
                <a:ea typeface="Inter Bold"/>
              </a:rPr>
              <a:t>TracingInsights</a:t>
            </a:r>
            <a:endParaRPr lang="en-US" sz="1299" b="1" dirty="0">
              <a:solidFill>
                <a:srgbClr val="FFFFFF"/>
              </a:solidFill>
              <a:latin typeface="Inter Bold"/>
              <a:ea typeface="Inter Bold"/>
              <a:sym typeface="Inter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3915457" y="2578992"/>
            <a:ext cx="2789086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Focus: Deep Historical Analytics</a:t>
            </a:r>
          </a:p>
          <a:p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Gap: Dense "spreadsheet" UI, lacks forward-looking simulation.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85836" y="3297495"/>
            <a:ext cx="2251981" cy="22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9"/>
              </a:lnSpc>
            </a:pPr>
            <a:r>
              <a:rPr lang="en-US" sz="12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 </a:t>
            </a:r>
            <a:r>
              <a:rPr lang="en-IN" sz="1299" b="1" dirty="0">
                <a:solidFill>
                  <a:srgbClr val="FFFFFF"/>
                </a:solidFill>
                <a:latin typeface="Inter Bold"/>
                <a:ea typeface="Inter Bold"/>
              </a:rPr>
              <a:t>OpenF1</a:t>
            </a:r>
            <a:endParaRPr lang="en-US" sz="1299" b="1" dirty="0">
              <a:solidFill>
                <a:srgbClr val="FFFFFF"/>
              </a:solidFill>
              <a:latin typeface="Inter Bold"/>
              <a:ea typeface="Inter Bold"/>
              <a:sym typeface="Inter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3915457" y="3532061"/>
            <a:ext cx="2789086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Focus: Raw Data API</a:t>
            </a:r>
          </a:p>
          <a:p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Gap: Developer-only tool, no visual interface or strategic layer.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885837" y="5768525"/>
            <a:ext cx="278908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1200" b="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Cost</a:t>
            </a:r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: Freemium vs. $130/yr Subscription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85837" y="6184660"/>
            <a:ext cx="2789086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00" b="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Technology</a:t>
            </a:r>
            <a:r>
              <a:rPr lang="en-IN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: Hybrid ML &amp; Physics Engine</a:t>
            </a:r>
          </a:p>
          <a:p>
            <a:br>
              <a:rPr lang="en-IN" sz="1200" dirty="0"/>
            </a:br>
            <a:endParaRPr lang="en-US" sz="1200" dirty="0">
              <a:solidFill>
                <a:srgbClr val="FFFFFF">
                  <a:alpha val="80000"/>
                </a:srgb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3892716" y="6590698"/>
            <a:ext cx="2789086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00" b="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Features</a:t>
            </a:r>
            <a:r>
              <a:rPr lang="en-IN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: Predictive Simulation &amp; Strategy</a:t>
            </a:r>
          </a:p>
          <a:p>
            <a:br>
              <a:rPr lang="en-IN" sz="1200" dirty="0"/>
            </a:br>
            <a:endParaRPr lang="en-US" sz="1200" dirty="0">
              <a:solidFill>
                <a:srgbClr val="FFFFFF">
                  <a:alpha val="80000"/>
                </a:srgb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3885837" y="6967117"/>
            <a:ext cx="2789086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1200" b="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Experience</a:t>
            </a:r>
            <a:r>
              <a:rPr lang="en-GB" sz="1200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: Cinematic 3D vs. Static Charts</a:t>
            </a:r>
          </a:p>
          <a:p>
            <a:br>
              <a:rPr lang="en-GB" sz="1200" dirty="0"/>
            </a:br>
            <a:endParaRPr lang="en-US" sz="1200" dirty="0">
              <a:solidFill>
                <a:srgbClr val="FFFFFF">
                  <a:alpha val="80000"/>
                </a:srgbClr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334</Words>
  <Application>Microsoft Office PowerPoint</Application>
  <PresentationFormat>Custom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Lora Bold</vt:lpstr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White Modern Open House Trifold Brochure (EU)</dc:title>
  <cp:lastModifiedBy>Jeet Shah</cp:lastModifiedBy>
  <cp:revision>3</cp:revision>
  <dcterms:created xsi:type="dcterms:W3CDTF">2006-08-16T00:00:00Z</dcterms:created>
  <dcterms:modified xsi:type="dcterms:W3CDTF">2026-02-10T03:28:41Z</dcterms:modified>
  <dc:identifier>DAHAUwe2ykg</dc:identifier>
</cp:coreProperties>
</file>