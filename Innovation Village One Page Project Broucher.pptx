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0693400" cy="7556500"/>
  <p:notesSz cx="6858000" cy="9144000"/>
  <p:embeddedFontLst>
    <p:embeddedFont>
      <p:font typeface="Inter" panose="020B0604020202020204" charset="0"/>
      <p:regular r:id="rId5"/>
    </p:embeddedFont>
    <p:embeddedFont>
      <p:font typeface="Inter Bold" panose="020B0604020202020204" charset="0"/>
      <p:regular r:id="rId6"/>
    </p:embeddedFont>
    <p:embeddedFont>
      <p:font typeface="Lora Bold" panose="020B0604020202020204" charset="0"/>
      <p:regular r:id="rId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382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75" d="100"/>
          <a:sy n="75" d="100"/>
        </p:scale>
        <p:origin x="581" y="22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tableStyles" Target="tableStyles.xml"/><Relationship Id="rId5" Type="http://schemas.openxmlformats.org/officeDocument/2006/relationships/font" Target="fonts/font1.fntdata"/><Relationship Id="rId10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0D9C44-188C-47BB-A7A7-6D9111F476AB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4600" y="1143000"/>
            <a:ext cx="4368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3BCABC-BD11-4BFE-9D98-8303CBB535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53353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3BCABC-BD11-4BFE-9D98-8303CBB53582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89999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sv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5.png"/><Relationship Id="rId7" Type="http://schemas.openxmlformats.org/officeDocument/2006/relationships/image" Target="../media/image5.png"/><Relationship Id="rId12" Type="http://schemas.openxmlformats.org/officeDocument/2006/relationships/image" Target="../media/image20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svg"/><Relationship Id="rId11" Type="http://schemas.openxmlformats.org/officeDocument/2006/relationships/image" Target="../media/image12.png"/><Relationship Id="rId5" Type="http://schemas.openxmlformats.org/officeDocument/2006/relationships/image" Target="../media/image17.png"/><Relationship Id="rId10" Type="http://schemas.openxmlformats.org/officeDocument/2006/relationships/image" Target="../media/image11.svg"/><Relationship Id="rId4" Type="http://schemas.openxmlformats.org/officeDocument/2006/relationships/image" Target="../media/image16.png"/><Relationship Id="rId9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205069" y="91326"/>
            <a:ext cx="3349925" cy="5395965"/>
            <a:chOff x="0" y="0"/>
            <a:chExt cx="758223" cy="12213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58223" cy="1221325"/>
            </a:xfrm>
            <a:custGeom>
              <a:avLst/>
              <a:gdLst/>
              <a:ahLst/>
              <a:cxnLst/>
              <a:rect l="l" t="t" r="r" b="b"/>
              <a:pathLst>
                <a:path w="758223" h="1221325">
                  <a:moveTo>
                    <a:pt x="0" y="0"/>
                  </a:moveTo>
                  <a:lnTo>
                    <a:pt x="758223" y="0"/>
                  </a:lnTo>
                  <a:lnTo>
                    <a:pt x="758223" y="1221325"/>
                  </a:lnTo>
                  <a:lnTo>
                    <a:pt x="0" y="1221325"/>
                  </a:lnTo>
                  <a:close/>
                </a:path>
              </a:pathLst>
            </a:custGeom>
            <a:blipFill>
              <a:blip r:embed="rId4" cstate="print">
                <a:alphaModFix amt="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94854" y="4957867"/>
            <a:ext cx="4981393" cy="2495027"/>
            <a:chOff x="0" y="0"/>
            <a:chExt cx="1127491" cy="56472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127491" cy="564726"/>
            </a:xfrm>
            <a:custGeom>
              <a:avLst/>
              <a:gdLst/>
              <a:ahLst/>
              <a:cxnLst/>
              <a:rect l="l" t="t" r="r" b="b"/>
              <a:pathLst>
                <a:path w="1127491" h="564726">
                  <a:moveTo>
                    <a:pt x="0" y="0"/>
                  </a:moveTo>
                  <a:lnTo>
                    <a:pt x="1127491" y="0"/>
                  </a:lnTo>
                  <a:lnTo>
                    <a:pt x="1127491" y="564726"/>
                  </a:lnTo>
                  <a:lnTo>
                    <a:pt x="0" y="564726"/>
                  </a:lnTo>
                  <a:close/>
                </a:path>
              </a:pathLst>
            </a:custGeom>
            <a:blipFill>
              <a:blip r:embed="rId5" cstate="print">
                <a:alphaModFix amt="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205069" y="393766"/>
            <a:ext cx="3349925" cy="663937"/>
            <a:chOff x="0" y="0"/>
            <a:chExt cx="1200537" cy="23794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00537" cy="237940"/>
            </a:xfrm>
            <a:custGeom>
              <a:avLst/>
              <a:gdLst/>
              <a:ahLst/>
              <a:cxnLst/>
              <a:rect l="l" t="t" r="r" b="b"/>
              <a:pathLst>
                <a:path w="1200537" h="237940">
                  <a:moveTo>
                    <a:pt x="0" y="0"/>
                  </a:moveTo>
                  <a:lnTo>
                    <a:pt x="1200537" y="0"/>
                  </a:lnTo>
                  <a:lnTo>
                    <a:pt x="1200537" y="237940"/>
                  </a:lnTo>
                  <a:lnTo>
                    <a:pt x="0" y="237940"/>
                  </a:lnTo>
                  <a:close/>
                </a:path>
              </a:pathLst>
            </a:custGeom>
            <a:solidFill>
              <a:srgbClr val="F9F9F9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9525"/>
              <a:ext cx="1200537" cy="2474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9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4645833" y="3980029"/>
            <a:ext cx="5571805" cy="2785262"/>
            <a:chOff x="0" y="0"/>
            <a:chExt cx="1996809" cy="998175"/>
          </a:xfrm>
          <a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grpSpPr>
        <p:sp>
          <p:nvSpPr>
            <p:cNvPr id="10" name="Freeform 10"/>
            <p:cNvSpPr/>
            <p:nvPr/>
          </p:nvSpPr>
          <p:spPr>
            <a:xfrm>
              <a:off x="0" y="0"/>
              <a:ext cx="1996809" cy="998175"/>
            </a:xfrm>
            <a:custGeom>
              <a:avLst/>
              <a:gdLst/>
              <a:ahLst/>
              <a:cxnLst/>
              <a:rect l="l" t="t" r="r" b="b"/>
              <a:pathLst>
                <a:path w="1996809" h="998175">
                  <a:moveTo>
                    <a:pt x="0" y="0"/>
                  </a:moveTo>
                  <a:lnTo>
                    <a:pt x="1996809" y="0"/>
                  </a:lnTo>
                  <a:lnTo>
                    <a:pt x="1996809" y="998175"/>
                  </a:lnTo>
                  <a:lnTo>
                    <a:pt x="0" y="99817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1996809" cy="100770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90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 rot="-2632766">
            <a:off x="-280630" y="5813409"/>
            <a:ext cx="1146160" cy="2491652"/>
          </a:xfrm>
          <a:custGeom>
            <a:avLst/>
            <a:gdLst/>
            <a:ahLst/>
            <a:cxnLst/>
            <a:rect l="l" t="t" r="r" b="b"/>
            <a:pathLst>
              <a:path w="1146160" h="2491652">
                <a:moveTo>
                  <a:pt x="0" y="0"/>
                </a:moveTo>
                <a:lnTo>
                  <a:pt x="1146160" y="0"/>
                </a:lnTo>
                <a:lnTo>
                  <a:pt x="1146160" y="2491652"/>
                </a:lnTo>
                <a:lnTo>
                  <a:pt x="0" y="249165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36000"/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496990" y="367619"/>
            <a:ext cx="2769218" cy="6027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0"/>
              </a:lnSpc>
            </a:pPr>
            <a:r>
              <a:rPr lang="en-US" sz="2300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Lora Bold"/>
                <a:ea typeface="Lora Bold"/>
                <a:cs typeface="Lora Bold"/>
                <a:sym typeface="Lora Bold"/>
              </a:rPr>
              <a:t>What?</a:t>
            </a:r>
          </a:p>
          <a:p>
            <a:pPr algn="ctr">
              <a:lnSpc>
                <a:spcPts val="2200"/>
              </a:lnSpc>
            </a:pPr>
            <a:r>
              <a:rPr lang="en-US" sz="20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Lora Bold"/>
                <a:ea typeface="Lora Bold"/>
                <a:cs typeface="Lora Bold"/>
                <a:sym typeface="Lora Bold"/>
              </a:rPr>
              <a:t>Brief Description</a:t>
            </a:r>
          </a:p>
        </p:txBody>
      </p:sp>
      <p:sp>
        <p:nvSpPr>
          <p:cNvPr id="18" name="Freeform 18"/>
          <p:cNvSpPr/>
          <p:nvPr/>
        </p:nvSpPr>
        <p:spPr>
          <a:xfrm>
            <a:off x="9263216" y="502679"/>
            <a:ext cx="1189632" cy="446112"/>
          </a:xfrm>
          <a:custGeom>
            <a:avLst/>
            <a:gdLst/>
            <a:ahLst/>
            <a:cxnLst/>
            <a:rect l="l" t="t" r="r" b="b"/>
            <a:pathLst>
              <a:path w="1189632" h="446112">
                <a:moveTo>
                  <a:pt x="0" y="0"/>
                </a:moveTo>
                <a:lnTo>
                  <a:pt x="1189632" y="0"/>
                </a:lnTo>
                <a:lnTo>
                  <a:pt x="1189632" y="446112"/>
                </a:lnTo>
                <a:lnTo>
                  <a:pt x="0" y="44611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9" name="Freeform 19"/>
          <p:cNvSpPr/>
          <p:nvPr/>
        </p:nvSpPr>
        <p:spPr>
          <a:xfrm>
            <a:off x="7281370" y="502679"/>
            <a:ext cx="1757109" cy="446112"/>
          </a:xfrm>
          <a:custGeom>
            <a:avLst/>
            <a:gdLst/>
            <a:ahLst/>
            <a:cxnLst/>
            <a:rect l="l" t="t" r="r" b="b"/>
            <a:pathLst>
              <a:path w="1757109" h="446112">
                <a:moveTo>
                  <a:pt x="0" y="0"/>
                </a:moveTo>
                <a:lnTo>
                  <a:pt x="1757109" y="0"/>
                </a:lnTo>
                <a:lnTo>
                  <a:pt x="1757109" y="446112"/>
                </a:lnTo>
                <a:lnTo>
                  <a:pt x="0" y="44611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0" name="TextBox 20"/>
          <p:cNvSpPr txBox="1"/>
          <p:nvPr/>
        </p:nvSpPr>
        <p:spPr>
          <a:xfrm>
            <a:off x="7462509" y="4308731"/>
            <a:ext cx="2473491" cy="7950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80"/>
              </a:lnSpc>
            </a:pPr>
            <a:r>
              <a:rPr lang="en-IN" sz="2800" b="1" dirty="0">
                <a:solidFill>
                  <a:schemeClr val="bg1">
                    <a:lumMod val="95000"/>
                  </a:schemeClr>
                </a:solidFill>
                <a:latin typeface="Lora Bold"/>
              </a:rPr>
              <a:t>APEX Intelligence</a:t>
            </a:r>
            <a:endParaRPr lang="en-US" sz="2800" b="1" dirty="0">
              <a:solidFill>
                <a:schemeClr val="bg1">
                  <a:lumMod val="95000"/>
                </a:schemeClr>
              </a:solidFill>
              <a:latin typeface="Lora Bold"/>
              <a:sym typeface="Lora Bold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7462509" y="5282034"/>
            <a:ext cx="2473491" cy="6942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800"/>
              </a:lnSpc>
            </a:pPr>
            <a:r>
              <a:rPr lang="en-GB" sz="1200" dirty="0">
                <a:solidFill>
                  <a:schemeClr val="bg1">
                    <a:lumMod val="95000"/>
                    <a:alpha val="80000"/>
                  </a:schemeClr>
                </a:solidFill>
                <a:latin typeface="Inter"/>
                <a:ea typeface="Inter"/>
              </a:rPr>
              <a:t> A Hybrid ML &amp; Simulation System for Predictive Motorsport Strategy.</a:t>
            </a:r>
            <a:endParaRPr lang="en-US" sz="1200" dirty="0">
              <a:solidFill>
                <a:schemeClr val="bg1">
                  <a:lumMod val="95000"/>
                  <a:alpha val="80000"/>
                </a:schemeClr>
              </a:solidFill>
              <a:latin typeface="Inter"/>
              <a:ea typeface="Inter"/>
              <a:sym typeface="Inter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7573247" y="6936375"/>
            <a:ext cx="2453647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49"/>
              </a:lnSpc>
            </a:pPr>
            <a:r>
              <a:rPr lang="en-US" sz="1499" b="1" dirty="0">
                <a:solidFill>
                  <a:schemeClr val="accent2">
                    <a:lumMod val="40000"/>
                    <a:lumOff val="60000"/>
                    <a:alpha val="80000"/>
                  </a:schemeClr>
                </a:solidFill>
                <a:latin typeface="Inter Bold"/>
                <a:ea typeface="Inter Bold"/>
                <a:cs typeface="Inter Bold"/>
                <a:sym typeface="Inter Bold"/>
              </a:rPr>
              <a:t>Stall No. 99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3977166" y="348569"/>
            <a:ext cx="2737668" cy="666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9"/>
              </a:lnSpc>
            </a:pPr>
            <a:r>
              <a:rPr lang="en-US" sz="2299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Lora Bold"/>
                <a:ea typeface="Lora Bold"/>
                <a:cs typeface="Lora Bold"/>
                <a:sym typeface="Lora Bold"/>
              </a:rPr>
              <a:t>Why</a:t>
            </a:r>
            <a:r>
              <a:rPr lang="en-US" sz="2299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Lora Bold"/>
                <a:ea typeface="Lora Bold"/>
                <a:cs typeface="Lora Bold"/>
                <a:sym typeface="Lora Bold"/>
              </a:rPr>
              <a:t>?</a:t>
            </a:r>
          </a:p>
          <a:p>
            <a:pPr algn="ctr">
              <a:lnSpc>
                <a:spcPts val="2400"/>
              </a:lnSpc>
            </a:pPr>
            <a:r>
              <a:rPr lang="en-US" sz="20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Lora Bold"/>
                <a:ea typeface="Lora Bold"/>
                <a:cs typeface="Lora Bold"/>
                <a:sym typeface="Lora Bold"/>
              </a:rPr>
              <a:t>Motivation &amp; Purpose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829500" y="5188690"/>
            <a:ext cx="1772074" cy="1600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02262" lvl="1" indent="-151131">
              <a:lnSpc>
                <a:spcPts val="1820"/>
              </a:lnSpc>
              <a:buFont typeface="Arial"/>
              <a:buChar char="•"/>
            </a:pPr>
            <a:r>
              <a:rPr lang="en-IN" sz="1400" dirty="0">
                <a:solidFill>
                  <a:schemeClr val="bg1">
                    <a:lumMod val="95000"/>
                  </a:schemeClr>
                </a:solidFill>
                <a:latin typeface="Inter"/>
                <a:ea typeface="Inter"/>
              </a:rPr>
              <a:t>Hybrid Architecture</a:t>
            </a:r>
            <a:endParaRPr lang="en-US" sz="1400" dirty="0">
              <a:solidFill>
                <a:schemeClr val="bg1">
                  <a:lumMod val="95000"/>
                </a:schemeClr>
              </a:solidFill>
              <a:latin typeface="Inter"/>
              <a:ea typeface="Inter"/>
              <a:sym typeface="Inter"/>
            </a:endParaRPr>
          </a:p>
          <a:p>
            <a:pPr marL="302262" lvl="1" indent="-151131">
              <a:lnSpc>
                <a:spcPts val="1820"/>
              </a:lnSpc>
              <a:buFont typeface="Arial"/>
              <a:buChar char="•"/>
            </a:pPr>
            <a:r>
              <a:rPr lang="en-IN" sz="1400" dirty="0">
                <a:solidFill>
                  <a:schemeClr val="bg1">
                    <a:lumMod val="95000"/>
                  </a:schemeClr>
                </a:solidFill>
                <a:latin typeface="Inter"/>
                <a:ea typeface="Inter"/>
              </a:rPr>
              <a:t>Predictive AI</a:t>
            </a:r>
            <a:endParaRPr lang="en-US" sz="1400" dirty="0">
              <a:solidFill>
                <a:schemeClr val="bg1">
                  <a:lumMod val="95000"/>
                </a:schemeClr>
              </a:solidFill>
              <a:latin typeface="Inter"/>
              <a:ea typeface="Inter"/>
              <a:sym typeface="Inter"/>
            </a:endParaRPr>
          </a:p>
          <a:p>
            <a:pPr marL="302262" lvl="1" indent="-151131" algn="l">
              <a:lnSpc>
                <a:spcPts val="1820"/>
              </a:lnSpc>
              <a:buFont typeface="Arial"/>
              <a:buChar char="•"/>
            </a:pP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Cinematic UX</a:t>
            </a:r>
          </a:p>
          <a:p>
            <a:pPr marL="302262" lvl="1" indent="-151131" algn="l">
              <a:lnSpc>
                <a:spcPts val="1820"/>
              </a:lnSpc>
              <a:buFont typeface="Arial"/>
              <a:buChar char="•"/>
            </a:pP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Performance Analytics</a:t>
            </a:r>
          </a:p>
          <a:p>
            <a:pPr marL="302262" lvl="1" indent="-151131" algn="l">
              <a:lnSpc>
                <a:spcPts val="1820"/>
              </a:lnSpc>
              <a:buFont typeface="Arial"/>
              <a:buChar char="•"/>
            </a:pP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Race Simulation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96990" y="4264351"/>
            <a:ext cx="2689647" cy="320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1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Lora Bold"/>
                <a:ea typeface="Lora Bold"/>
                <a:cs typeface="Lora Bold"/>
                <a:sym typeface="Lora Bold"/>
              </a:rPr>
              <a:t>Project in the Depth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910423" y="1170143"/>
            <a:ext cx="2871155" cy="3059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65203" lvl="1">
              <a:lnSpc>
                <a:spcPts val="1989"/>
              </a:lnSpc>
            </a:pPr>
            <a:r>
              <a:rPr lang="en-IN" sz="1530" dirty="0">
                <a:solidFill>
                  <a:schemeClr val="accent2">
                    <a:lumMod val="40000"/>
                    <a:lumOff val="60000"/>
                  </a:schemeClr>
                </a:solidFill>
                <a:latin typeface="Inter"/>
                <a:ea typeface="Inter"/>
              </a:rPr>
              <a:t>Bridging the Analytics Gap</a:t>
            </a:r>
          </a:p>
          <a:p>
            <a:pPr marL="450953" lvl="1" indent="-285750">
              <a:lnSpc>
                <a:spcPts val="1989"/>
              </a:lnSpc>
              <a:buFont typeface="Arial" panose="020B0604020202020204" pitchFamily="34" charset="0"/>
              <a:buChar char="•"/>
            </a:pPr>
            <a:r>
              <a:rPr lang="en-GB" sz="1530" dirty="0">
                <a:solidFill>
                  <a:schemeClr val="accent2">
                    <a:lumMod val="40000"/>
                    <a:lumOff val="60000"/>
                  </a:schemeClr>
                </a:solidFill>
                <a:latin typeface="Inter"/>
                <a:ea typeface="Inter"/>
              </a:rPr>
              <a:t>The Problem: The complexity of F1 data makes it difficult to visualise how strategy calls impact the final race result.</a:t>
            </a:r>
          </a:p>
          <a:p>
            <a:pPr marL="450953" lvl="1" indent="-285750">
              <a:lnSpc>
                <a:spcPts val="1989"/>
              </a:lnSpc>
              <a:buFont typeface="Arial" panose="020B0604020202020204" pitchFamily="34" charset="0"/>
              <a:buChar char="•"/>
            </a:pPr>
            <a:r>
              <a:rPr lang="en-GB" sz="1530" dirty="0">
                <a:solidFill>
                  <a:schemeClr val="accent2">
                    <a:lumMod val="40000"/>
                    <a:lumOff val="60000"/>
                  </a:schemeClr>
                </a:solidFill>
                <a:latin typeface="Inter"/>
                <a:ea typeface="Inter"/>
              </a:rPr>
              <a:t>Solution: Advanced modelling that makes technical data accessible and actionable.</a:t>
            </a:r>
            <a:br>
              <a:rPr lang="en-IN" sz="1600" dirty="0"/>
            </a:br>
            <a:endParaRPr lang="en-US" sz="1530" dirty="0">
              <a:solidFill>
                <a:srgbClr val="49362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315482" y="1161396"/>
            <a:ext cx="2871155" cy="31269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989"/>
              </a:lnSpc>
            </a:pPr>
            <a:r>
              <a:rPr lang="en-GB" sz="1530" dirty="0">
                <a:solidFill>
                  <a:schemeClr val="accent2">
                    <a:lumMod val="40000"/>
                    <a:lumOff val="60000"/>
                  </a:schemeClr>
                </a:solidFill>
                <a:latin typeface="Inter"/>
                <a:ea typeface="Inter"/>
              </a:rPr>
              <a:t>A high-fidelity system that predicts F1 race outcomes using advanced analytics</a:t>
            </a:r>
            <a:r>
              <a:rPr lang="en-GB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530" dirty="0">
                <a:solidFill>
                  <a:schemeClr val="accent2">
                    <a:lumMod val="40000"/>
                    <a:lumOff val="60000"/>
                  </a:schemeClr>
                </a:solidFill>
                <a:latin typeface="Inter"/>
                <a:ea typeface="Inter"/>
              </a:rPr>
              <a:t>Core Function: Transforms historical data into future simulations for upcoming Grand Prix races.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530" dirty="0">
                <a:solidFill>
                  <a:schemeClr val="accent2">
                    <a:lumMod val="40000"/>
                    <a:lumOff val="60000"/>
                  </a:schemeClr>
                </a:solidFill>
                <a:latin typeface="Inter"/>
                <a:ea typeface="Inter"/>
              </a:rPr>
              <a:t>The System: Hybrid architecture combining Machine Learning (Pace) with Monte Carlo Simulation (Strategy).</a:t>
            </a:r>
          </a:p>
          <a:p>
            <a:pPr marL="285750" indent="-285750">
              <a:lnSpc>
                <a:spcPts val="1989"/>
              </a:lnSpc>
              <a:buFont typeface="Arial" panose="020B0604020202020204" pitchFamily="34" charset="0"/>
              <a:buChar char="•"/>
            </a:pPr>
            <a:endParaRPr lang="en-US" sz="1530" dirty="0">
              <a:solidFill>
                <a:srgbClr val="49362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4829500" y="4308731"/>
            <a:ext cx="2136729" cy="788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080"/>
              </a:lnSpc>
            </a:pPr>
            <a:r>
              <a:rPr lang="en-US" sz="2800" b="1" dirty="0">
                <a:solidFill>
                  <a:schemeClr val="bg1"/>
                </a:solidFill>
                <a:latin typeface="Lora Bold"/>
                <a:ea typeface="Lora Bold"/>
                <a:cs typeface="Lora Bold"/>
                <a:sym typeface="Lora Bold"/>
              </a:rPr>
              <a:t>Key Highlights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FD85024-DE7D-74F7-8AA2-9EDC8D33761A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74514" y="6038817"/>
            <a:ext cx="1222071" cy="1222071"/>
          </a:xfrm>
          <a:prstGeom prst="rect">
            <a:avLst/>
          </a:prstGeom>
        </p:spPr>
      </p:pic>
      <p:sp>
        <p:nvSpPr>
          <p:cNvPr id="15" name="Freeform 15"/>
          <p:cNvSpPr/>
          <p:nvPr/>
        </p:nvSpPr>
        <p:spPr>
          <a:xfrm rot="-3739034">
            <a:off x="9067234" y="6484576"/>
            <a:ext cx="2771229" cy="985584"/>
          </a:xfrm>
          <a:custGeom>
            <a:avLst/>
            <a:gdLst/>
            <a:ahLst/>
            <a:cxnLst/>
            <a:rect l="l" t="t" r="r" b="b"/>
            <a:pathLst>
              <a:path w="2771229" h="985584">
                <a:moveTo>
                  <a:pt x="0" y="0"/>
                </a:moveTo>
                <a:lnTo>
                  <a:pt x="2771228" y="0"/>
                </a:lnTo>
                <a:lnTo>
                  <a:pt x="2771228" y="985583"/>
                </a:lnTo>
                <a:lnTo>
                  <a:pt x="0" y="98558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9999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IN"/>
          </a:p>
        </p:txBody>
      </p:sp>
      <p:sp>
        <p:nvSpPr>
          <p:cNvPr id="17" name="Freeform 17"/>
          <p:cNvSpPr/>
          <p:nvPr/>
        </p:nvSpPr>
        <p:spPr>
          <a:xfrm rot="1455866">
            <a:off x="-586099" y="-695394"/>
            <a:ext cx="1149131" cy="1950686"/>
          </a:xfrm>
          <a:custGeom>
            <a:avLst/>
            <a:gdLst/>
            <a:ahLst/>
            <a:cxnLst/>
            <a:rect l="l" t="t" r="r" b="b"/>
            <a:pathLst>
              <a:path w="1149131" h="1950686">
                <a:moveTo>
                  <a:pt x="0" y="0"/>
                </a:moveTo>
                <a:lnTo>
                  <a:pt x="1149131" y="0"/>
                </a:lnTo>
                <a:lnTo>
                  <a:pt x="1149131" y="1950686"/>
                </a:lnTo>
                <a:lnTo>
                  <a:pt x="0" y="1950686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alphaModFix amt="7999"/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12000" r="-1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41953" y="2389660"/>
            <a:ext cx="627977" cy="627977"/>
            <a:chOff x="0" y="0"/>
            <a:chExt cx="812800" cy="812800"/>
          </a:xfrm>
          <a:solidFill>
            <a:schemeClr val="accent2">
              <a:lumMod val="50000"/>
            </a:schemeClr>
          </a:solidFill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9"/>
                </a:lnSpc>
              </a:pPr>
              <a:r>
                <a:rPr lang="en-US" sz="1399" b="1" dirty="0">
                  <a:solidFill>
                    <a:srgbClr val="FFFFFF"/>
                  </a:solidFill>
                  <a:latin typeface="Inter Bold"/>
                  <a:ea typeface="Inter Bold"/>
                  <a:cs typeface="Inter Bold"/>
                  <a:sym typeface="Inter Bold"/>
                </a:rPr>
                <a:t>01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41953" y="3179562"/>
            <a:ext cx="627977" cy="627977"/>
            <a:chOff x="0" y="0"/>
            <a:chExt cx="812800" cy="812800"/>
          </a:xfrm>
          <a:solidFill>
            <a:schemeClr val="accent2">
              <a:lumMod val="50000"/>
            </a:schemeClr>
          </a:solidFill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49"/>
                </a:lnSpc>
              </a:pPr>
              <a:r>
                <a:rPr lang="en-US" sz="1299" b="1" dirty="0">
                  <a:solidFill>
                    <a:srgbClr val="FFFFFF"/>
                  </a:solidFill>
                  <a:latin typeface="Inter Bold"/>
                  <a:ea typeface="Inter Bold"/>
                  <a:cs typeface="Inter Bold"/>
                  <a:sym typeface="Inter Bold"/>
                </a:rPr>
                <a:t>02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41953" y="3978989"/>
            <a:ext cx="627977" cy="627977"/>
            <a:chOff x="0" y="0"/>
            <a:chExt cx="812800" cy="812800"/>
          </a:xfrm>
          <a:solidFill>
            <a:schemeClr val="accent2">
              <a:lumMod val="50000"/>
            </a:schemeClr>
          </a:solidFill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49"/>
                </a:lnSpc>
              </a:pPr>
              <a:r>
                <a:rPr lang="en-US" sz="1299" b="1">
                  <a:solidFill>
                    <a:srgbClr val="FFFFFF"/>
                  </a:solidFill>
                  <a:latin typeface="Inter Bold"/>
                  <a:ea typeface="Inter Bold"/>
                  <a:cs typeface="Inter Bold"/>
                  <a:sym typeface="Inter Bold"/>
                </a:rPr>
                <a:t>03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 rot="-5400000">
            <a:off x="1664341" y="2041048"/>
            <a:ext cx="7361568" cy="3500181"/>
            <a:chOff x="0" y="0"/>
            <a:chExt cx="2108268" cy="1002412"/>
          </a:xfr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grpSpPr>
        <p:sp>
          <p:nvSpPr>
            <p:cNvPr id="12" name="Freeform 12"/>
            <p:cNvSpPr/>
            <p:nvPr/>
          </p:nvSpPr>
          <p:spPr>
            <a:xfrm>
              <a:off x="0" y="0"/>
              <a:ext cx="2108268" cy="1002412"/>
            </a:xfrm>
            <a:custGeom>
              <a:avLst/>
              <a:gdLst/>
              <a:ahLst/>
              <a:cxnLst/>
              <a:rect l="l" t="t" r="r" b="b"/>
              <a:pathLst>
                <a:path w="2108268" h="1002412">
                  <a:moveTo>
                    <a:pt x="0" y="0"/>
                  </a:moveTo>
                  <a:lnTo>
                    <a:pt x="2108268" y="0"/>
                  </a:lnTo>
                  <a:lnTo>
                    <a:pt x="2108268" y="1002412"/>
                  </a:lnTo>
                  <a:lnTo>
                    <a:pt x="0" y="1002412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>
                <a:ln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9525"/>
              <a:ext cx="2108268" cy="1011937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90"/>
                </a:lnSpc>
              </a:pPr>
              <a:endParaRPr>
                <a:ln>
                  <a:solidFill>
                    <a:schemeClr val="tx1"/>
                  </a:solidFill>
                </a:ln>
              </a:endParaR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0" y="4957867"/>
            <a:ext cx="3563999" cy="2495027"/>
            <a:chOff x="0" y="0"/>
            <a:chExt cx="806677" cy="56472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06677" cy="564726"/>
            </a:xfrm>
            <a:custGeom>
              <a:avLst/>
              <a:gdLst/>
              <a:ahLst/>
              <a:cxnLst/>
              <a:rect l="l" t="t" r="r" b="b"/>
              <a:pathLst>
                <a:path w="806677" h="564726">
                  <a:moveTo>
                    <a:pt x="0" y="0"/>
                  </a:moveTo>
                  <a:lnTo>
                    <a:pt x="806677" y="0"/>
                  </a:lnTo>
                  <a:lnTo>
                    <a:pt x="806677" y="564726"/>
                  </a:lnTo>
                  <a:lnTo>
                    <a:pt x="0" y="564726"/>
                  </a:lnTo>
                  <a:close/>
                </a:path>
              </a:pathLst>
            </a:custGeom>
            <a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7527002" y="1559277"/>
            <a:ext cx="321554" cy="310198"/>
            <a:chOff x="0" y="0"/>
            <a:chExt cx="115238" cy="111168"/>
          </a:xfrm>
          <a:solidFill>
            <a:schemeClr val="accent2">
              <a:lumMod val="50000"/>
            </a:schemeClr>
          </a:solidFill>
        </p:grpSpPr>
        <p:sp>
          <p:nvSpPr>
            <p:cNvPr id="17" name="Freeform 17"/>
            <p:cNvSpPr/>
            <p:nvPr/>
          </p:nvSpPr>
          <p:spPr>
            <a:xfrm>
              <a:off x="0" y="0"/>
              <a:ext cx="115238" cy="111168"/>
            </a:xfrm>
            <a:custGeom>
              <a:avLst/>
              <a:gdLst/>
              <a:ahLst/>
              <a:cxnLst/>
              <a:rect l="l" t="t" r="r" b="b"/>
              <a:pathLst>
                <a:path w="115238" h="111168">
                  <a:moveTo>
                    <a:pt x="0" y="0"/>
                  </a:moveTo>
                  <a:lnTo>
                    <a:pt x="115238" y="0"/>
                  </a:lnTo>
                  <a:lnTo>
                    <a:pt x="115238" y="111168"/>
                  </a:lnTo>
                  <a:lnTo>
                    <a:pt x="0" y="111168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28575"/>
              <a:ext cx="115238" cy="139743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540"/>
                </a:lnSpc>
              </a:pPr>
              <a:r>
                <a:rPr lang="en-US" sz="1100" dirty="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7527002" y="2648566"/>
            <a:ext cx="321554" cy="310198"/>
            <a:chOff x="0" y="0"/>
            <a:chExt cx="115238" cy="111168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15238" cy="111168"/>
            </a:xfrm>
            <a:custGeom>
              <a:avLst/>
              <a:gdLst/>
              <a:ahLst/>
              <a:cxnLst/>
              <a:rect l="l" t="t" r="r" b="b"/>
              <a:pathLst>
                <a:path w="115238" h="111168">
                  <a:moveTo>
                    <a:pt x="0" y="0"/>
                  </a:moveTo>
                  <a:lnTo>
                    <a:pt x="115238" y="0"/>
                  </a:lnTo>
                  <a:lnTo>
                    <a:pt x="115238" y="111168"/>
                  </a:lnTo>
                  <a:lnTo>
                    <a:pt x="0" y="111168"/>
                  </a:lnTo>
                  <a:close/>
                </a:path>
              </a:pathLst>
            </a:custGeom>
            <a:solidFill>
              <a:srgbClr val="A38269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28575"/>
              <a:ext cx="115238" cy="139743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540"/>
                </a:lnSpc>
              </a:pPr>
              <a:r>
                <a:rPr lang="en-US" sz="1100" dirty="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02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527002" y="3632860"/>
            <a:ext cx="321554" cy="310198"/>
            <a:chOff x="0" y="0"/>
            <a:chExt cx="115238" cy="111168"/>
          </a:xfrm>
          <a:solidFill>
            <a:schemeClr val="accent2">
              <a:lumMod val="50000"/>
            </a:schemeClr>
          </a:solidFill>
        </p:grpSpPr>
        <p:sp>
          <p:nvSpPr>
            <p:cNvPr id="23" name="Freeform 23"/>
            <p:cNvSpPr/>
            <p:nvPr/>
          </p:nvSpPr>
          <p:spPr>
            <a:xfrm>
              <a:off x="0" y="0"/>
              <a:ext cx="115238" cy="111168"/>
            </a:xfrm>
            <a:custGeom>
              <a:avLst/>
              <a:gdLst/>
              <a:ahLst/>
              <a:cxnLst/>
              <a:rect l="l" t="t" r="r" b="b"/>
              <a:pathLst>
                <a:path w="115238" h="111168">
                  <a:moveTo>
                    <a:pt x="0" y="0"/>
                  </a:moveTo>
                  <a:lnTo>
                    <a:pt x="115238" y="0"/>
                  </a:lnTo>
                  <a:lnTo>
                    <a:pt x="115238" y="111168"/>
                  </a:lnTo>
                  <a:lnTo>
                    <a:pt x="0" y="111168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28575"/>
              <a:ext cx="115238" cy="139743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540"/>
                </a:lnSpc>
              </a:pPr>
              <a:r>
                <a:rPr lang="en-US" sz="11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03</a:t>
              </a:r>
            </a:p>
          </p:txBody>
        </p:sp>
      </p:grpSp>
      <p:sp>
        <p:nvSpPr>
          <p:cNvPr id="25" name="Freeform 25"/>
          <p:cNvSpPr/>
          <p:nvPr/>
        </p:nvSpPr>
        <p:spPr>
          <a:xfrm>
            <a:off x="7527002" y="5907590"/>
            <a:ext cx="173690" cy="176795"/>
          </a:xfrm>
          <a:custGeom>
            <a:avLst/>
            <a:gdLst/>
            <a:ahLst/>
            <a:cxnLst/>
            <a:rect l="l" t="t" r="r" b="b"/>
            <a:pathLst>
              <a:path w="173690" h="176795">
                <a:moveTo>
                  <a:pt x="0" y="0"/>
                </a:moveTo>
                <a:lnTo>
                  <a:pt x="173689" y="0"/>
                </a:lnTo>
                <a:lnTo>
                  <a:pt x="173689" y="176796"/>
                </a:lnTo>
                <a:lnTo>
                  <a:pt x="0" y="17679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6" name="Freeform 26"/>
          <p:cNvSpPr/>
          <p:nvPr/>
        </p:nvSpPr>
        <p:spPr>
          <a:xfrm>
            <a:off x="7527002" y="6250121"/>
            <a:ext cx="173690" cy="176795"/>
          </a:xfrm>
          <a:custGeom>
            <a:avLst/>
            <a:gdLst/>
            <a:ahLst/>
            <a:cxnLst/>
            <a:rect l="l" t="t" r="r" b="b"/>
            <a:pathLst>
              <a:path w="173690" h="176795">
                <a:moveTo>
                  <a:pt x="0" y="0"/>
                </a:moveTo>
                <a:lnTo>
                  <a:pt x="173689" y="0"/>
                </a:lnTo>
                <a:lnTo>
                  <a:pt x="173689" y="176795"/>
                </a:lnTo>
                <a:lnTo>
                  <a:pt x="0" y="17679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7" name="Freeform 27"/>
          <p:cNvSpPr/>
          <p:nvPr/>
        </p:nvSpPr>
        <p:spPr>
          <a:xfrm>
            <a:off x="7527002" y="6627205"/>
            <a:ext cx="173690" cy="176795"/>
          </a:xfrm>
          <a:custGeom>
            <a:avLst/>
            <a:gdLst/>
            <a:ahLst/>
            <a:cxnLst/>
            <a:rect l="l" t="t" r="r" b="b"/>
            <a:pathLst>
              <a:path w="173690" h="176795">
                <a:moveTo>
                  <a:pt x="0" y="0"/>
                </a:moveTo>
                <a:lnTo>
                  <a:pt x="173689" y="0"/>
                </a:lnTo>
                <a:lnTo>
                  <a:pt x="173689" y="176795"/>
                </a:lnTo>
                <a:lnTo>
                  <a:pt x="0" y="17679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8" name="TextBox 28"/>
          <p:cNvSpPr txBox="1"/>
          <p:nvPr/>
        </p:nvSpPr>
        <p:spPr>
          <a:xfrm>
            <a:off x="541953" y="571559"/>
            <a:ext cx="2549963" cy="718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</a:pPr>
            <a:r>
              <a:rPr lang="en-US" sz="2500" b="1" dirty="0">
                <a:solidFill>
                  <a:schemeClr val="bg1">
                    <a:lumMod val="95000"/>
                  </a:schemeClr>
                </a:solidFill>
                <a:latin typeface="Lora Bold"/>
                <a:ea typeface="Lora Bold"/>
                <a:cs typeface="Lora Bold"/>
                <a:sym typeface="Lora Bold"/>
              </a:rPr>
              <a:t>Problems Addressed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01180" y="2492829"/>
            <a:ext cx="1790736" cy="6387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90"/>
              </a:lnSpc>
            </a:pPr>
            <a:r>
              <a:rPr lang="en-IN" sz="1300" dirty="0">
                <a:solidFill>
                  <a:schemeClr val="bg1">
                    <a:lumMod val="95000"/>
                    <a:alpha val="80000"/>
                  </a:schemeClr>
                </a:solidFill>
                <a:latin typeface="Inter"/>
                <a:ea typeface="Inter"/>
              </a:rPr>
              <a:t>Passive Viewership</a:t>
            </a:r>
            <a:r>
              <a:rPr lang="en-US" sz="1300" dirty="0">
                <a:solidFill>
                  <a:schemeClr val="bg1">
                    <a:lumMod val="95000"/>
                    <a:alpha val="80000"/>
                  </a:schemeClr>
                </a:solidFill>
                <a:latin typeface="Inter"/>
                <a:ea typeface="Inter"/>
                <a:sym typeface="Inter"/>
              </a:rPr>
              <a:t> </a:t>
            </a:r>
            <a:r>
              <a:rPr lang="en-US" sz="1300" dirty="0">
                <a:solidFill>
                  <a:schemeClr val="bg1">
                    <a:lumMod val="95000"/>
                    <a:alpha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affected/benefited</a:t>
            </a:r>
          </a:p>
          <a:p>
            <a:pPr>
              <a:lnSpc>
                <a:spcPts val="1690"/>
              </a:lnSpc>
            </a:pPr>
            <a:endParaRPr lang="en-US" sz="1300" dirty="0">
              <a:solidFill>
                <a:srgbClr val="000000">
                  <a:alpha val="80000"/>
                </a:srgb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1301180" y="3268430"/>
            <a:ext cx="1790736" cy="420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90"/>
              </a:lnSpc>
            </a:pPr>
            <a:r>
              <a:rPr lang="en-IN" sz="1300" dirty="0">
                <a:solidFill>
                  <a:schemeClr val="bg1">
                    <a:lumMod val="95000"/>
                    <a:alpha val="80000"/>
                  </a:schemeClr>
                </a:solidFill>
                <a:latin typeface="Inter"/>
                <a:ea typeface="Inter"/>
              </a:rPr>
              <a:t>Complex, Fragmented Data</a:t>
            </a:r>
            <a:endParaRPr lang="en-US" sz="1300" dirty="0">
              <a:solidFill>
                <a:schemeClr val="bg1">
                  <a:lumMod val="95000"/>
                  <a:alpha val="80000"/>
                </a:schemeClr>
              </a:solidFill>
              <a:latin typeface="Inter"/>
              <a:ea typeface="Inter"/>
              <a:sym typeface="Inter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1301180" y="4082158"/>
            <a:ext cx="1790736" cy="420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90"/>
              </a:lnSpc>
            </a:pPr>
            <a:r>
              <a:rPr lang="en-IN" sz="1300" dirty="0">
                <a:solidFill>
                  <a:schemeClr val="bg1">
                    <a:lumMod val="95000"/>
                    <a:alpha val="80000"/>
                  </a:schemeClr>
                </a:solidFill>
                <a:latin typeface="Inter"/>
                <a:ea typeface="Inter"/>
              </a:rPr>
              <a:t>Reactive Race Strategy</a:t>
            </a:r>
            <a:endParaRPr lang="en-US" sz="1300" dirty="0">
              <a:solidFill>
                <a:schemeClr val="bg1">
                  <a:lumMod val="95000"/>
                  <a:alpha val="80000"/>
                </a:schemeClr>
              </a:solidFill>
              <a:latin typeface="Inter"/>
              <a:ea typeface="Inter"/>
              <a:sym typeface="Inter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3885837" y="596470"/>
            <a:ext cx="2918576" cy="676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9"/>
              </a:lnSpc>
            </a:pPr>
            <a:r>
              <a:rPr lang="en-US" sz="2299" b="1">
                <a:solidFill>
                  <a:srgbClr val="FFFFFF"/>
                </a:solidFill>
                <a:latin typeface="Lora Bold"/>
                <a:ea typeface="Lora Bold"/>
                <a:cs typeface="Lora Bold"/>
                <a:sym typeface="Lora Bold"/>
              </a:rPr>
              <a:t>Current Alternatives in the Market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885837" y="1371840"/>
            <a:ext cx="2251981" cy="221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949"/>
              </a:lnSpc>
            </a:pPr>
            <a:r>
              <a:rPr lang="en-US" sz="1299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1. </a:t>
            </a:r>
            <a:r>
              <a:rPr lang="en-IN" sz="1299" b="1" dirty="0">
                <a:solidFill>
                  <a:srgbClr val="FFFFFF"/>
                </a:solidFill>
                <a:latin typeface="Inter Bold"/>
                <a:ea typeface="Inter Bold"/>
              </a:rPr>
              <a:t>F1TV (Official)</a:t>
            </a:r>
            <a:endParaRPr lang="en-US" sz="1299" b="1" dirty="0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8094449" y="1425509"/>
            <a:ext cx="2151798" cy="769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540"/>
              </a:lnSpc>
            </a:pPr>
            <a:r>
              <a:rPr lang="en-GB" sz="1400" b="1" dirty="0">
                <a:solidFill>
                  <a:schemeClr val="bg1">
                    <a:lumMod val="95000"/>
                  </a:schemeClr>
                </a:solidFill>
                <a:latin typeface="Inter"/>
                <a:ea typeface="Inter"/>
              </a:rPr>
              <a:t>Forward-Looking Predictions</a:t>
            </a:r>
            <a:r>
              <a:rPr lang="en-GB" sz="1400" dirty="0">
                <a:solidFill>
                  <a:schemeClr val="bg1">
                    <a:lumMod val="95000"/>
                  </a:schemeClr>
                </a:solidFill>
                <a:latin typeface="Inter"/>
                <a:ea typeface="Inter"/>
              </a:rPr>
              <a:t>: Predict race outcomes instead of just analysing past results.</a:t>
            </a:r>
            <a:endParaRPr lang="en-US" sz="1400" dirty="0">
              <a:solidFill>
                <a:schemeClr val="bg1">
                  <a:lumMod val="95000"/>
                </a:schemeClr>
              </a:solidFill>
              <a:latin typeface="Inter"/>
              <a:ea typeface="Inter"/>
              <a:sym typeface="Inter"/>
            </a:endParaRPr>
          </a:p>
        </p:txBody>
      </p:sp>
      <p:sp>
        <p:nvSpPr>
          <p:cNvPr id="36" name="Freeform 36"/>
          <p:cNvSpPr/>
          <p:nvPr/>
        </p:nvSpPr>
        <p:spPr>
          <a:xfrm rot="-2632766" flipH="1" flipV="1">
            <a:off x="9981914" y="-939615"/>
            <a:ext cx="1146160" cy="2491652"/>
          </a:xfrm>
          <a:custGeom>
            <a:avLst/>
            <a:gdLst/>
            <a:ahLst/>
            <a:cxnLst/>
            <a:rect l="l" t="t" r="r" b="b"/>
            <a:pathLst>
              <a:path w="1146160" h="2491652">
                <a:moveTo>
                  <a:pt x="1146160" y="2491652"/>
                </a:moveTo>
                <a:lnTo>
                  <a:pt x="0" y="2491652"/>
                </a:lnTo>
                <a:lnTo>
                  <a:pt x="0" y="0"/>
                </a:lnTo>
                <a:lnTo>
                  <a:pt x="1146160" y="0"/>
                </a:lnTo>
                <a:lnTo>
                  <a:pt x="1146160" y="2491652"/>
                </a:lnTo>
                <a:close/>
              </a:path>
            </a:pathLst>
          </a:custGeom>
          <a:blipFill>
            <a:blip r:embed="rId7">
              <a:alphaModFix amt="25000"/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Box 37"/>
          <p:cNvSpPr txBox="1"/>
          <p:nvPr/>
        </p:nvSpPr>
        <p:spPr>
          <a:xfrm>
            <a:off x="7527002" y="563055"/>
            <a:ext cx="2644257" cy="718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</a:pPr>
            <a:r>
              <a:rPr lang="en-US" sz="2500" b="1" dirty="0">
                <a:solidFill>
                  <a:schemeClr val="bg1">
                    <a:lumMod val="95000"/>
                  </a:schemeClr>
                </a:solidFill>
                <a:latin typeface="Lora Bold"/>
                <a:ea typeface="Lora Bold"/>
                <a:cs typeface="Lora Bold"/>
                <a:sym typeface="Lora Bold"/>
              </a:rPr>
              <a:t>What Makes It Different: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527002" y="5336990"/>
            <a:ext cx="2792432" cy="282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lang="en-US" sz="2000" b="1" dirty="0">
                <a:solidFill>
                  <a:schemeClr val="bg1">
                    <a:lumMod val="95000"/>
                  </a:schemeClr>
                </a:solidFill>
                <a:latin typeface="Lora Bold"/>
                <a:ea typeface="Lora Bold"/>
                <a:cs typeface="Lora Bold"/>
                <a:sym typeface="Lora Bold"/>
              </a:rPr>
              <a:t>Impact &amp; Future Scope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7831755" y="5857691"/>
            <a:ext cx="2339503" cy="1999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IN" sz="1299" dirty="0">
                <a:solidFill>
                  <a:schemeClr val="bg1">
                    <a:lumMod val="95000"/>
                    <a:alpha val="80000"/>
                  </a:schemeClr>
                </a:solidFill>
                <a:latin typeface="Inter"/>
                <a:ea typeface="Inter"/>
              </a:rPr>
              <a:t>Live 3D Race Replay</a:t>
            </a:r>
          </a:p>
        </p:txBody>
      </p:sp>
      <p:sp>
        <p:nvSpPr>
          <p:cNvPr id="40" name="Freeform 40"/>
          <p:cNvSpPr/>
          <p:nvPr/>
        </p:nvSpPr>
        <p:spPr>
          <a:xfrm rot="-3739034">
            <a:off x="9067234" y="6484576"/>
            <a:ext cx="2771229" cy="985584"/>
          </a:xfrm>
          <a:custGeom>
            <a:avLst/>
            <a:gdLst/>
            <a:ahLst/>
            <a:cxnLst/>
            <a:rect l="l" t="t" r="r" b="b"/>
            <a:pathLst>
              <a:path w="2771229" h="985584">
                <a:moveTo>
                  <a:pt x="0" y="0"/>
                </a:moveTo>
                <a:lnTo>
                  <a:pt x="2771228" y="0"/>
                </a:lnTo>
                <a:lnTo>
                  <a:pt x="2771228" y="985583"/>
                </a:lnTo>
                <a:lnTo>
                  <a:pt x="0" y="98558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19999"/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Box 41"/>
          <p:cNvSpPr txBox="1"/>
          <p:nvPr/>
        </p:nvSpPr>
        <p:spPr>
          <a:xfrm>
            <a:off x="7831755" y="6206121"/>
            <a:ext cx="2339503" cy="1999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IN" sz="1299" dirty="0">
                <a:solidFill>
                  <a:schemeClr val="bg1">
                    <a:lumMod val="95000"/>
                    <a:alpha val="80000"/>
                  </a:schemeClr>
                </a:solidFill>
                <a:latin typeface="Inter"/>
                <a:ea typeface="Inter"/>
              </a:rPr>
              <a:t>Active Fan Engagement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831755" y="6589105"/>
            <a:ext cx="2339503" cy="1999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IN" sz="1299" dirty="0">
                <a:solidFill>
                  <a:schemeClr val="bg1">
                    <a:lumMod val="95000"/>
                    <a:alpha val="80000"/>
                  </a:schemeClr>
                </a:solidFill>
                <a:latin typeface="Inter"/>
                <a:ea typeface="Inter"/>
              </a:rPr>
              <a:t>Trackside Mobile Ecosystem</a:t>
            </a:r>
          </a:p>
        </p:txBody>
      </p:sp>
      <p:sp>
        <p:nvSpPr>
          <p:cNvPr id="43" name="Freeform 43"/>
          <p:cNvSpPr/>
          <p:nvPr/>
        </p:nvSpPr>
        <p:spPr>
          <a:xfrm rot="1455866">
            <a:off x="-586099" y="-695394"/>
            <a:ext cx="1149131" cy="1950686"/>
          </a:xfrm>
          <a:custGeom>
            <a:avLst/>
            <a:gdLst/>
            <a:ahLst/>
            <a:cxnLst/>
            <a:rect l="l" t="t" r="r" b="b"/>
            <a:pathLst>
              <a:path w="1149131" h="1950686">
                <a:moveTo>
                  <a:pt x="0" y="0"/>
                </a:moveTo>
                <a:lnTo>
                  <a:pt x="1149131" y="0"/>
                </a:lnTo>
                <a:lnTo>
                  <a:pt x="1149131" y="1950686"/>
                </a:lnTo>
                <a:lnTo>
                  <a:pt x="0" y="1950686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7999"/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IN"/>
          </a:p>
        </p:txBody>
      </p:sp>
      <p:grpSp>
        <p:nvGrpSpPr>
          <p:cNvPr id="44" name="Group 44"/>
          <p:cNvGrpSpPr/>
          <p:nvPr/>
        </p:nvGrpSpPr>
        <p:grpSpPr>
          <a:xfrm>
            <a:off x="7527002" y="4485138"/>
            <a:ext cx="321554" cy="310198"/>
            <a:chOff x="0" y="0"/>
            <a:chExt cx="115238" cy="111168"/>
          </a:xfrm>
          <a:solidFill>
            <a:schemeClr val="accent2">
              <a:lumMod val="50000"/>
            </a:schemeClr>
          </a:solidFill>
        </p:grpSpPr>
        <p:sp>
          <p:nvSpPr>
            <p:cNvPr id="45" name="Freeform 45"/>
            <p:cNvSpPr/>
            <p:nvPr/>
          </p:nvSpPr>
          <p:spPr>
            <a:xfrm>
              <a:off x="0" y="0"/>
              <a:ext cx="115238" cy="111168"/>
            </a:xfrm>
            <a:custGeom>
              <a:avLst/>
              <a:gdLst/>
              <a:ahLst/>
              <a:cxnLst/>
              <a:rect l="l" t="t" r="r" b="b"/>
              <a:pathLst>
                <a:path w="115238" h="111168">
                  <a:moveTo>
                    <a:pt x="0" y="0"/>
                  </a:moveTo>
                  <a:lnTo>
                    <a:pt x="115238" y="0"/>
                  </a:lnTo>
                  <a:lnTo>
                    <a:pt x="115238" y="111168"/>
                  </a:lnTo>
                  <a:lnTo>
                    <a:pt x="0" y="111168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28575"/>
              <a:ext cx="115238" cy="139743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540"/>
                </a:lnSpc>
              </a:pPr>
              <a:r>
                <a:rPr lang="en-US" sz="1100" dirty="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04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8109401" y="2295215"/>
            <a:ext cx="2151798" cy="9732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540"/>
              </a:lnSpc>
            </a:pPr>
            <a:r>
              <a:rPr lang="en-GB" sz="1400" b="1" dirty="0">
                <a:solidFill>
                  <a:schemeClr val="bg1">
                    <a:lumMod val="95000"/>
                  </a:schemeClr>
                </a:solidFill>
                <a:latin typeface="Inter"/>
                <a:ea typeface="Inter"/>
              </a:rPr>
              <a:t>Precision Performance Analytics</a:t>
            </a:r>
            <a:r>
              <a:rPr lang="en-GB" sz="1400" dirty="0">
                <a:solidFill>
                  <a:schemeClr val="bg1">
                    <a:lumMod val="95000"/>
                  </a:schemeClr>
                </a:solidFill>
                <a:latin typeface="Inter"/>
                <a:ea typeface="Inter"/>
              </a:rPr>
              <a:t>: Real-time analysis of tyre degradation and pace deltas.</a:t>
            </a:r>
            <a:endParaRPr lang="en-US" sz="1400" dirty="0">
              <a:solidFill>
                <a:schemeClr val="bg1">
                  <a:lumMod val="95000"/>
                </a:schemeClr>
              </a:solidFill>
              <a:latin typeface="Inter"/>
              <a:ea typeface="Inter"/>
              <a:sym typeface="Inter"/>
            </a:endParaRPr>
          </a:p>
        </p:txBody>
      </p:sp>
      <p:sp>
        <p:nvSpPr>
          <p:cNvPr id="48" name="TextBox 48"/>
          <p:cNvSpPr txBox="1"/>
          <p:nvPr/>
        </p:nvSpPr>
        <p:spPr>
          <a:xfrm>
            <a:off x="8109401" y="3415588"/>
            <a:ext cx="2151798" cy="780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540"/>
              </a:lnSpc>
            </a:pPr>
            <a:r>
              <a:rPr lang="en-GB" sz="1400" b="1" dirty="0">
                <a:solidFill>
                  <a:schemeClr val="bg1">
                    <a:lumMod val="95000"/>
                  </a:schemeClr>
                </a:solidFill>
                <a:latin typeface="Inter"/>
                <a:ea typeface="Inter"/>
              </a:rPr>
              <a:t>Hybrid Intelligence Engine</a:t>
            </a:r>
            <a:r>
              <a:rPr lang="en-GB" sz="1400" dirty="0">
                <a:solidFill>
                  <a:schemeClr val="bg1">
                    <a:lumMod val="95000"/>
                  </a:schemeClr>
                </a:solidFill>
                <a:latin typeface="Inter"/>
                <a:ea typeface="Inter"/>
              </a:rPr>
              <a:t>: Fuses Machine Learning with physics-based race rules.</a:t>
            </a:r>
            <a:endParaRPr lang="en-US" sz="1400" dirty="0">
              <a:solidFill>
                <a:schemeClr val="bg1">
                  <a:lumMod val="95000"/>
                </a:schemeClr>
              </a:solidFill>
              <a:latin typeface="Inter"/>
              <a:ea typeface="Inter"/>
              <a:sym typeface="Inter"/>
            </a:endParaRPr>
          </a:p>
        </p:txBody>
      </p:sp>
      <p:sp>
        <p:nvSpPr>
          <p:cNvPr id="49" name="TextBox 49"/>
          <p:cNvSpPr txBox="1"/>
          <p:nvPr/>
        </p:nvSpPr>
        <p:spPr>
          <a:xfrm>
            <a:off x="8094449" y="4305525"/>
            <a:ext cx="2151798" cy="769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540"/>
              </a:lnSpc>
            </a:pPr>
            <a:r>
              <a:rPr lang="en-GB" sz="1400" b="1" dirty="0">
                <a:solidFill>
                  <a:schemeClr val="bg1">
                    <a:lumMod val="95000"/>
                  </a:schemeClr>
                </a:solidFill>
                <a:latin typeface="Inter"/>
                <a:ea typeface="Inter"/>
              </a:rPr>
              <a:t>Cinematic Data UX</a:t>
            </a:r>
            <a:r>
              <a:rPr lang="en-GB" sz="1400" dirty="0">
                <a:solidFill>
                  <a:schemeClr val="bg1">
                    <a:lumMod val="95000"/>
                  </a:schemeClr>
                </a:solidFill>
                <a:latin typeface="Inter"/>
                <a:ea typeface="Inter"/>
              </a:rPr>
              <a:t>: Broadcast-quality visualisation, not dry spreadsheets.</a:t>
            </a:r>
            <a:endParaRPr lang="en-US" sz="1400" dirty="0">
              <a:solidFill>
                <a:schemeClr val="bg1">
                  <a:lumMod val="95000"/>
                </a:schemeClr>
              </a:solidFill>
              <a:latin typeface="Inter"/>
              <a:ea typeface="Inter"/>
              <a:sym typeface="Inter"/>
            </a:endParaRPr>
          </a:p>
        </p:txBody>
      </p:sp>
      <p:sp>
        <p:nvSpPr>
          <p:cNvPr id="51" name="Freeform 51"/>
          <p:cNvSpPr/>
          <p:nvPr/>
        </p:nvSpPr>
        <p:spPr>
          <a:xfrm>
            <a:off x="7539914" y="6977368"/>
            <a:ext cx="173690" cy="176795"/>
          </a:xfrm>
          <a:custGeom>
            <a:avLst/>
            <a:gdLst/>
            <a:ahLst/>
            <a:cxnLst/>
            <a:rect l="l" t="t" r="r" b="b"/>
            <a:pathLst>
              <a:path w="173690" h="176795">
                <a:moveTo>
                  <a:pt x="0" y="0"/>
                </a:moveTo>
                <a:lnTo>
                  <a:pt x="173690" y="0"/>
                </a:lnTo>
                <a:lnTo>
                  <a:pt x="173690" y="176795"/>
                </a:lnTo>
                <a:lnTo>
                  <a:pt x="0" y="17679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2" name="TextBox 52"/>
          <p:cNvSpPr txBox="1"/>
          <p:nvPr/>
        </p:nvSpPr>
        <p:spPr>
          <a:xfrm>
            <a:off x="7831755" y="6939268"/>
            <a:ext cx="2339503" cy="615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IN" sz="1299" dirty="0">
                <a:solidFill>
                  <a:schemeClr val="bg1">
                    <a:lumMod val="95000"/>
                    <a:alpha val="80000"/>
                  </a:schemeClr>
                </a:solidFill>
                <a:latin typeface="Inter"/>
                <a:ea typeface="Inter"/>
              </a:rPr>
              <a:t>Monte Carlo Strategy Engine</a:t>
            </a:r>
          </a:p>
          <a:p>
            <a:br>
              <a:rPr lang="en-IN" sz="1400" dirty="0"/>
            </a:br>
            <a:endParaRPr lang="en-IN" sz="1299" dirty="0">
              <a:solidFill>
                <a:srgbClr val="000000">
                  <a:alpha val="80000"/>
                </a:srgbClr>
              </a:solidFill>
              <a:latin typeface="Inter"/>
              <a:ea typeface="Inter"/>
            </a:endParaRPr>
          </a:p>
        </p:txBody>
      </p:sp>
      <p:sp>
        <p:nvSpPr>
          <p:cNvPr id="53" name="TextBox 53"/>
          <p:cNvSpPr txBox="1"/>
          <p:nvPr/>
        </p:nvSpPr>
        <p:spPr>
          <a:xfrm>
            <a:off x="3756031" y="4917146"/>
            <a:ext cx="3107939" cy="676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9"/>
              </a:lnSpc>
            </a:pPr>
            <a:r>
              <a:rPr lang="en-US" sz="2299" b="1" dirty="0">
                <a:solidFill>
                  <a:srgbClr val="FFFFFF"/>
                </a:solidFill>
                <a:latin typeface="Lora Bold"/>
                <a:ea typeface="Lora Bold"/>
                <a:cs typeface="Lora Bold"/>
                <a:sym typeface="Lora Bold"/>
              </a:rPr>
              <a:t>How we are different from competition?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3915457" y="1581696"/>
            <a:ext cx="2789086" cy="7633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GB" sz="1200" dirty="0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Focus: Live Video &amp; Replays</a:t>
            </a:r>
          </a:p>
          <a:p>
            <a:r>
              <a:rPr lang="en-GB" sz="1200" dirty="0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Gap: Expensive ($130/yr), purely observational, no predictive tools.</a:t>
            </a:r>
          </a:p>
          <a:p>
            <a:pPr algn="l">
              <a:lnSpc>
                <a:spcPts val="1800"/>
              </a:lnSpc>
            </a:pPr>
            <a:endParaRPr lang="en-US" sz="1200" dirty="0">
              <a:solidFill>
                <a:srgbClr val="FFFFFF">
                  <a:alpha val="80000"/>
                </a:srgb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" name="TextBox 55"/>
          <p:cNvSpPr txBox="1"/>
          <p:nvPr/>
        </p:nvSpPr>
        <p:spPr>
          <a:xfrm>
            <a:off x="3885837" y="2349139"/>
            <a:ext cx="2251981" cy="221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949"/>
              </a:lnSpc>
            </a:pPr>
            <a:r>
              <a:rPr lang="en-US" sz="1299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2. </a:t>
            </a:r>
            <a:r>
              <a:rPr lang="en-IN" sz="1299" b="1" dirty="0">
                <a:solidFill>
                  <a:srgbClr val="FFFFFF"/>
                </a:solidFill>
                <a:latin typeface="Inter Bold"/>
                <a:ea typeface="Inter Bold"/>
              </a:rPr>
              <a:t>TracingInsights</a:t>
            </a:r>
            <a:endParaRPr lang="en-US" sz="1299" b="1" dirty="0">
              <a:solidFill>
                <a:srgbClr val="FFFFFF"/>
              </a:solidFill>
              <a:latin typeface="Inter Bold"/>
              <a:ea typeface="Inter Bold"/>
              <a:sym typeface="Inter Bold"/>
            </a:endParaRPr>
          </a:p>
        </p:txBody>
      </p:sp>
      <p:sp>
        <p:nvSpPr>
          <p:cNvPr id="56" name="TextBox 56"/>
          <p:cNvSpPr txBox="1"/>
          <p:nvPr/>
        </p:nvSpPr>
        <p:spPr>
          <a:xfrm>
            <a:off x="3915457" y="2578992"/>
            <a:ext cx="2789086" cy="5539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GB" sz="1200" dirty="0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Focus: Deep Historical Analytics</a:t>
            </a:r>
          </a:p>
          <a:p>
            <a:r>
              <a:rPr lang="en-GB" sz="1200" dirty="0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Gap: Dense "spreadsheet" UI, lacks forward-looking simulation.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3885836" y="3297495"/>
            <a:ext cx="2251981" cy="221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949"/>
              </a:lnSpc>
            </a:pPr>
            <a:r>
              <a:rPr lang="en-US" sz="1299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3. </a:t>
            </a:r>
            <a:r>
              <a:rPr lang="en-IN" sz="1299" b="1" dirty="0">
                <a:solidFill>
                  <a:srgbClr val="FFFFFF"/>
                </a:solidFill>
                <a:latin typeface="Inter Bold"/>
                <a:ea typeface="Inter Bold"/>
              </a:rPr>
              <a:t>OpenF1</a:t>
            </a:r>
            <a:endParaRPr lang="en-US" sz="1299" b="1" dirty="0">
              <a:solidFill>
                <a:srgbClr val="FFFFFF"/>
              </a:solidFill>
              <a:latin typeface="Inter Bold"/>
              <a:ea typeface="Inter Bold"/>
              <a:sym typeface="Inter Bold"/>
            </a:endParaRPr>
          </a:p>
        </p:txBody>
      </p:sp>
      <p:sp>
        <p:nvSpPr>
          <p:cNvPr id="58" name="TextBox 58"/>
          <p:cNvSpPr txBox="1"/>
          <p:nvPr/>
        </p:nvSpPr>
        <p:spPr>
          <a:xfrm>
            <a:off x="3915457" y="3532061"/>
            <a:ext cx="2789086" cy="5539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GB" sz="1200" dirty="0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Focus: Raw Data API</a:t>
            </a:r>
          </a:p>
          <a:p>
            <a:r>
              <a:rPr lang="en-GB" sz="1200" dirty="0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Gap: Developer-only tool, no visual interface or strategic layer.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3885837" y="5768525"/>
            <a:ext cx="2789086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GB" sz="1200" b="1" dirty="0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Cost</a:t>
            </a:r>
            <a:r>
              <a:rPr lang="en-GB" sz="1200" dirty="0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: Freemium vs. $130/yr Subscription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3885837" y="6184660"/>
            <a:ext cx="2789086" cy="738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IN" sz="1200" b="1" dirty="0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Technology</a:t>
            </a:r>
            <a:r>
              <a:rPr lang="en-IN" sz="1200" dirty="0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: Hybrid ML &amp; Physics Engine</a:t>
            </a:r>
          </a:p>
          <a:p>
            <a:br>
              <a:rPr lang="en-IN" sz="1200" dirty="0"/>
            </a:br>
            <a:endParaRPr lang="en-US" sz="1200" dirty="0">
              <a:solidFill>
                <a:srgbClr val="FFFFFF">
                  <a:alpha val="80000"/>
                </a:srgb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" name="TextBox 61"/>
          <p:cNvSpPr txBox="1"/>
          <p:nvPr/>
        </p:nvSpPr>
        <p:spPr>
          <a:xfrm>
            <a:off x="3892716" y="6590698"/>
            <a:ext cx="2789086" cy="738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IN" sz="1200" b="1" dirty="0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Features</a:t>
            </a:r>
            <a:r>
              <a:rPr lang="en-IN" sz="1200" dirty="0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: Predictive Simulation &amp; Strategy</a:t>
            </a:r>
          </a:p>
          <a:p>
            <a:br>
              <a:rPr lang="en-IN" sz="1200" dirty="0"/>
            </a:br>
            <a:endParaRPr lang="en-US" sz="1200" dirty="0">
              <a:solidFill>
                <a:srgbClr val="FFFFFF">
                  <a:alpha val="80000"/>
                </a:srgb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" name="TextBox 62"/>
          <p:cNvSpPr txBox="1"/>
          <p:nvPr/>
        </p:nvSpPr>
        <p:spPr>
          <a:xfrm>
            <a:off x="3885837" y="6967117"/>
            <a:ext cx="2789086" cy="738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GB" sz="1200" b="1" dirty="0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Experience</a:t>
            </a:r>
            <a:r>
              <a:rPr lang="en-GB" sz="1200" dirty="0">
                <a:solidFill>
                  <a:srgbClr val="FFFFFF">
                    <a:alpha val="80000"/>
                  </a:srgbClr>
                </a:solidFill>
                <a:latin typeface="Inter"/>
                <a:ea typeface="Inter"/>
              </a:rPr>
              <a:t>: Cinematic 3D vs. Static Charts</a:t>
            </a:r>
          </a:p>
          <a:p>
            <a:br>
              <a:rPr lang="en-GB" sz="1200" dirty="0"/>
            </a:br>
            <a:endParaRPr lang="en-US" sz="1200" dirty="0">
              <a:solidFill>
                <a:srgbClr val="FFFFFF">
                  <a:alpha val="80000"/>
                </a:srgbClr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355</TotalTime>
  <Words>335</Words>
  <Application>Microsoft Office PowerPoint</Application>
  <PresentationFormat>Custom</PresentationFormat>
  <Paragraphs>61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Inter Bold</vt:lpstr>
      <vt:lpstr>Arial</vt:lpstr>
      <vt:lpstr>Calibri</vt:lpstr>
      <vt:lpstr>Inter</vt:lpstr>
      <vt:lpstr>Lora Bold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Brown and White Modern Open House Trifold Brochure (EU)</dc:title>
  <cp:lastModifiedBy>Jeet Shah</cp:lastModifiedBy>
  <cp:revision>5</cp:revision>
  <dcterms:created xsi:type="dcterms:W3CDTF">2006-08-16T00:00:00Z</dcterms:created>
  <dcterms:modified xsi:type="dcterms:W3CDTF">2026-02-11T15:16:23Z</dcterms:modified>
  <dc:identifier>DAHAUwe2ykg</dc:identifier>
</cp:coreProperties>
</file>